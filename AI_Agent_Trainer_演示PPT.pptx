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80" r:id="rId5"/>
    <p:sldId id="258" r:id="rId6"/>
    <p:sldId id="259" r:id="rId7"/>
    <p:sldId id="260" r:id="rId8"/>
    <p:sldId id="281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83" r:id="rId19"/>
    <p:sldId id="271" r:id="rId20"/>
    <p:sldId id="272" r:id="rId21"/>
    <p:sldId id="273" r:id="rId22"/>
    <p:sldId id="274" r:id="rId23"/>
    <p:sldId id="284" r:id="rId24"/>
    <p:sldId id="275" r:id="rId25"/>
    <p:sldId id="285" r:id="rId26"/>
    <p:sldId id="276" r:id="rId27"/>
    <p:sldId id="277" r:id="rId28"/>
    <p:sldId id="278" r:id="rId29"/>
    <p:sldId id="279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5" userDrawn="1">
          <p15:clr>
            <a:srgbClr val="A4A3A4"/>
          </p15:clr>
        </p15:guide>
        <p15:guide id="2" pos="29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E60"/>
    <a:srgbClr val="1A3A6C"/>
    <a:srgbClr val="2E86AB"/>
    <a:srgbClr val="60707A"/>
    <a:srgbClr val="E87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35"/>
        <p:guide pos="29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61.xml"/><Relationship Id="rId2" Type="http://schemas.openxmlformats.org/officeDocument/2006/relationships/tags" Target="../tags/tag43.xml"/><Relationship Id="rId19" Type="http://schemas.openxmlformats.org/officeDocument/2006/relationships/tags" Target="../tags/tag60.xml"/><Relationship Id="rId18" Type="http://schemas.openxmlformats.org/officeDocument/2006/relationships/tags" Target="../tags/tag59.xml"/><Relationship Id="rId17" Type="http://schemas.openxmlformats.org/officeDocument/2006/relationships/tags" Target="../tags/tag58.xml"/><Relationship Id="rId16" Type="http://schemas.openxmlformats.org/officeDocument/2006/relationships/tags" Target="../tags/tag57.xml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tags" Target="../tags/tag4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7" Type="http://schemas.openxmlformats.org/officeDocument/2006/relationships/slideLayout" Target="../slideLayouts/slideLayout7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107.xml"/><Relationship Id="rId2" Type="http://schemas.openxmlformats.org/officeDocument/2006/relationships/tags" Target="../tags/tag89.xml"/><Relationship Id="rId19" Type="http://schemas.openxmlformats.org/officeDocument/2006/relationships/tags" Target="../tags/tag106.xml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86325" cy="3834765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0EA"/>
                </a:solidFill>
                <a:latin typeface="微软雅黑" panose="020B0503020204020204" charset="-122"/>
              </a:defRPr>
            </a:pPr>
            <a:r>
              <a:t>赛题编号：XH-202630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面向大模型微调与推理部署的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个性化实训多智能体协同系统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ECFE8"/>
                </a:solidFill>
                <a:latin typeface="微软雅黑" panose="020B0503020204020204" charset="-122"/>
              </a:defRPr>
            </a:pPr>
            <a:r>
              <a:t>AI Agent Trainer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1828800" cy="457200"/>
          </a:xfrm>
          <a:prstGeom prst="rect">
            <a:avLst/>
          </a:prstGeom>
          <a:solidFill>
            <a:srgbClr val="EDF4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大模型微调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4389120"/>
            <a:ext cx="1828800" cy="457200"/>
          </a:xfrm>
          <a:prstGeom prst="rect">
            <a:avLst/>
          </a:prstGeom>
          <a:solidFill>
            <a:srgbClr val="EDF4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推理部署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4389120"/>
            <a:ext cx="1828800" cy="457200"/>
          </a:xfrm>
          <a:prstGeom prst="rect">
            <a:avLst/>
          </a:prstGeom>
          <a:solidFill>
            <a:srgbClr val="EDF4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个性化实训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4389120"/>
            <a:ext cx="1828800" cy="457200"/>
          </a:xfrm>
          <a:prstGeom prst="rect">
            <a:avLst/>
          </a:prstGeom>
          <a:solidFill>
            <a:srgbClr val="EDF4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多智能体协同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1033272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101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学     </a:t>
            </a:r>
            <a:r>
              <a:rPr lang="en-US"/>
              <a:t> </a:t>
            </a:r>
            <a:r>
              <a:t> 校：</a:t>
            </a:r>
            <a:r>
              <a:rPr lang="en-US"/>
              <a:t>  </a:t>
            </a:r>
            <a:r>
              <a:rPr lang="zh-CN"/>
              <a:t>深圳大学</a:t>
            </a:r>
            <a:endParaRPr lang="zh-CN"/>
          </a:p>
          <a:p>
            <a:pPr algn="l">
              <a:spcAft>
                <a:spcPts val="1100"/>
              </a:spcAft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团队成员：</a:t>
            </a:r>
            <a:r>
              <a:rPr lang="en-US"/>
              <a:t>  </a:t>
            </a:r>
            <a:r>
              <a:rPr lang="zh-CN" altLang="en-US"/>
              <a:t>苏杭</a:t>
            </a:r>
            <a:r>
              <a:rPr lang="en-US" altLang="zh-CN"/>
              <a:t> </a:t>
            </a:r>
            <a:r>
              <a:rPr lang="zh-CN" altLang="en-US"/>
              <a:t>莫凯琳</a:t>
            </a:r>
            <a:r>
              <a:rPr lang="en-US" altLang="zh-CN"/>
              <a:t> </a:t>
            </a:r>
            <a:r>
              <a:rPr lang="zh-CN" altLang="en-US"/>
              <a:t>林原持</a:t>
            </a:r>
            <a:r>
              <a:rPr lang="en-US" altLang="zh-CN"/>
              <a:t> </a:t>
            </a:r>
            <a:r>
              <a:rPr lang="zh-CN" altLang="en-US"/>
              <a:t>巴一涵</a:t>
            </a:r>
            <a:r>
              <a:rPr lang="en-US" altLang="zh-CN"/>
              <a:t> </a:t>
            </a:r>
            <a:r>
              <a:rPr lang="zh-CN" altLang="en-US"/>
              <a:t>邓思雨</a:t>
            </a:r>
            <a:endParaRPr lang="zh-CN" altLang="en-US"/>
          </a:p>
          <a:p>
            <a:pPr algn="l">
              <a:spcAft>
                <a:spcPts val="1100"/>
              </a:spcAft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指导教师：</a:t>
            </a:r>
            <a:r>
              <a:rPr lang="en-US"/>
              <a:t>  </a:t>
            </a:r>
            <a:r>
              <a:rPr lang="zh-CN" altLang="en-US"/>
              <a:t>刘杜</a:t>
            </a:r>
            <a:r>
              <a:rPr lang="zh-CN" altLang="en-US"/>
              <a:t>钢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38" name="直接连接符 37"/>
          <p:cNvCxnSpPr>
            <a:stCxn id="37" idx="4"/>
            <a:endCxn id="36" idx="0"/>
          </p:cNvCxnSpPr>
          <p:nvPr>
            <p:custDataLst>
              <p:tags r:id="rId1"/>
            </p:custDataLst>
          </p:nvPr>
        </p:nvCxnSpPr>
        <p:spPr>
          <a:xfrm>
            <a:off x="1786890" y="3522345"/>
            <a:ext cx="1905" cy="547370"/>
          </a:xfrm>
          <a:prstGeom prst="line">
            <a:avLst/>
          </a:prstGeom>
          <a:ln>
            <a:solidFill>
              <a:srgbClr val="1A3A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>
            <p:custDataLst>
              <p:tags r:id="rId2"/>
            </p:custDataLst>
          </p:nvPr>
        </p:nvSpPr>
        <p:spPr>
          <a:xfrm>
            <a:off x="368300" y="4069715"/>
            <a:ext cx="2840990" cy="1489710"/>
          </a:xfrm>
          <a:prstGeom prst="roundRect">
            <a:avLst/>
          </a:prstGeom>
          <a:ln>
            <a:solidFill>
              <a:srgbClr val="1A3A6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2/20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37" name="椭圆 36"/>
          <p:cNvSpPr/>
          <p:nvPr>
            <p:custDataLst>
              <p:tags r:id="rId3"/>
            </p:custDataLst>
          </p:nvPr>
        </p:nvSpPr>
        <p:spPr>
          <a:xfrm>
            <a:off x="915035" y="1773555"/>
            <a:ext cx="1743075" cy="1748790"/>
          </a:xfrm>
          <a:prstGeom prst="ellipse">
            <a:avLst/>
          </a:prstGeom>
          <a:solidFill>
            <a:srgbClr val="1A3A6C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"/>
            </p:custDataLst>
          </p:nvPr>
        </p:nvSpPr>
        <p:spPr>
          <a:xfrm>
            <a:off x="1239520" y="2212975"/>
            <a:ext cx="1094105" cy="870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5400">
                <a:solidFill>
                  <a:schemeClr val="bg1"/>
                </a:solidFill>
                <a:sym typeface="+mn-ea"/>
              </a:rPr>
              <a:t>01</a:t>
            </a:r>
            <a:endParaRPr lang="zh-CN" altLang="en-US" sz="5400">
              <a:solidFill>
                <a:schemeClr val="bg1"/>
              </a:solidFill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358140" y="4215130"/>
            <a:ext cx="28511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b="1">
                <a:solidFill>
                  <a:srgbClr val="1A3A6C"/>
                </a:solidFill>
                <a:latin typeface="+mn-ea"/>
                <a:sym typeface="+mn-ea"/>
              </a:rPr>
              <a:t>行业痛点与解决方案</a:t>
            </a:r>
            <a:endParaRPr lang="zh-CN" altLang="en-US" sz="3600"/>
          </a:p>
        </p:txBody>
      </p:sp>
      <p:cxnSp>
        <p:nvCxnSpPr>
          <p:cNvPr id="39" name="直接连接符 38"/>
          <p:cNvCxnSpPr>
            <a:stCxn id="42" idx="4"/>
            <a:endCxn id="41" idx="0"/>
          </p:cNvCxnSpPr>
          <p:nvPr>
            <p:custDataLst>
              <p:tags r:id="rId6"/>
            </p:custDataLst>
          </p:nvPr>
        </p:nvCxnSpPr>
        <p:spPr>
          <a:xfrm>
            <a:off x="7682865" y="3571875"/>
            <a:ext cx="1905" cy="547370"/>
          </a:xfrm>
          <a:prstGeom prst="line">
            <a:avLst/>
          </a:prstGeom>
          <a:ln>
            <a:solidFill>
              <a:srgbClr val="E87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>
            <p:custDataLst>
              <p:tags r:id="rId7"/>
            </p:custDataLst>
          </p:nvPr>
        </p:nvSpPr>
        <p:spPr>
          <a:xfrm>
            <a:off x="6264275" y="4119245"/>
            <a:ext cx="2840990" cy="1489710"/>
          </a:xfrm>
          <a:prstGeom prst="roundRect">
            <a:avLst/>
          </a:prstGeom>
          <a:ln>
            <a:solidFill>
              <a:srgbClr val="E87C2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42" name="椭圆 41"/>
          <p:cNvSpPr/>
          <p:nvPr>
            <p:custDataLst>
              <p:tags r:id="rId8"/>
            </p:custDataLst>
          </p:nvPr>
        </p:nvSpPr>
        <p:spPr>
          <a:xfrm>
            <a:off x="6811010" y="1823085"/>
            <a:ext cx="1743075" cy="1748790"/>
          </a:xfrm>
          <a:prstGeom prst="ellipse">
            <a:avLst/>
          </a:prstGeom>
          <a:solidFill>
            <a:srgbClr val="E87C2A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9"/>
            </p:custDataLst>
          </p:nvPr>
        </p:nvSpPr>
        <p:spPr>
          <a:xfrm>
            <a:off x="7135495" y="2262505"/>
            <a:ext cx="1094105" cy="870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5400">
                <a:solidFill>
                  <a:schemeClr val="bg1"/>
                </a:solidFill>
                <a:sym typeface="+mn-ea"/>
              </a:rPr>
              <a:t>0</a:t>
            </a:r>
            <a:r>
              <a:rPr lang="en-US" sz="5400">
                <a:solidFill>
                  <a:schemeClr val="bg1"/>
                </a:solidFill>
                <a:sym typeface="+mn-ea"/>
              </a:rPr>
              <a:t>3</a:t>
            </a:r>
            <a:endParaRPr lang="en-US" sz="5400">
              <a:solidFill>
                <a:schemeClr val="bg1"/>
              </a:solidFill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10"/>
            </p:custDataLst>
          </p:nvPr>
        </p:nvSpPr>
        <p:spPr>
          <a:xfrm>
            <a:off x="6264275" y="4541520"/>
            <a:ext cx="2851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b="1">
                <a:solidFill>
                  <a:srgbClr val="1A3A6C"/>
                </a:solidFill>
                <a:latin typeface="+mn-ea"/>
                <a:sym typeface="+mn-ea"/>
              </a:rPr>
              <a:t>效果与价值</a:t>
            </a:r>
            <a:endParaRPr lang="zh-CN" altLang="en-US" sz="3600" b="1">
              <a:solidFill>
                <a:srgbClr val="1A3A6C"/>
              </a:solidFill>
              <a:latin typeface="+mn-ea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11"/>
            </p:custDataLst>
          </p:nvPr>
        </p:nvSpPr>
        <p:spPr>
          <a:xfrm>
            <a:off x="3314065" y="1773555"/>
            <a:ext cx="2840990" cy="1489710"/>
          </a:xfrm>
          <a:prstGeom prst="roundRect">
            <a:avLst/>
          </a:prstGeom>
          <a:ln>
            <a:solidFill>
              <a:srgbClr val="2E86AB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47" name="椭圆 46"/>
          <p:cNvSpPr/>
          <p:nvPr>
            <p:custDataLst>
              <p:tags r:id="rId12"/>
            </p:custDataLst>
          </p:nvPr>
        </p:nvSpPr>
        <p:spPr>
          <a:xfrm>
            <a:off x="3857625" y="3835400"/>
            <a:ext cx="1743075" cy="1748790"/>
          </a:xfrm>
          <a:prstGeom prst="ellipse">
            <a:avLst/>
          </a:prstGeom>
          <a:solidFill>
            <a:srgbClr val="2E86A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13"/>
            </p:custDataLst>
          </p:nvPr>
        </p:nvSpPr>
        <p:spPr>
          <a:xfrm>
            <a:off x="4182110" y="4274820"/>
            <a:ext cx="1094105" cy="870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5400">
                <a:solidFill>
                  <a:schemeClr val="bg1"/>
                </a:solidFill>
                <a:sym typeface="+mn-ea"/>
              </a:rPr>
              <a:t>0</a:t>
            </a:r>
            <a:r>
              <a:rPr lang="en-US" sz="5400">
                <a:solidFill>
                  <a:schemeClr val="bg1"/>
                </a:solidFill>
                <a:sym typeface="+mn-ea"/>
              </a:rPr>
              <a:t>2</a:t>
            </a:r>
            <a:endParaRPr lang="en-US" sz="5400">
              <a:solidFill>
                <a:schemeClr val="bg1"/>
              </a:solidFill>
              <a:sym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14"/>
            </p:custDataLst>
          </p:nvPr>
        </p:nvSpPr>
        <p:spPr>
          <a:xfrm>
            <a:off x="3303905" y="1918970"/>
            <a:ext cx="28511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b="1">
                <a:solidFill>
                  <a:srgbClr val="1A3A6C"/>
                </a:solidFill>
                <a:latin typeface="+mn-ea"/>
                <a:sym typeface="+mn-ea"/>
              </a:rPr>
              <a:t>系统设计与技术实现</a:t>
            </a:r>
            <a:endParaRPr lang="zh-CN" altLang="en-US" sz="3600" b="1">
              <a:solidFill>
                <a:srgbClr val="1A3A6C"/>
              </a:solidFill>
              <a:latin typeface="+mn-ea"/>
              <a:sym typeface="+mn-ea"/>
            </a:endParaRPr>
          </a:p>
        </p:txBody>
      </p:sp>
      <p:cxnSp>
        <p:nvCxnSpPr>
          <p:cNvPr id="50" name="直接连接符 49"/>
          <p:cNvCxnSpPr>
            <a:stCxn id="47" idx="0"/>
            <a:endCxn id="46" idx="2"/>
          </p:cNvCxnSpPr>
          <p:nvPr>
            <p:custDataLst>
              <p:tags r:id="rId15"/>
            </p:custDataLst>
          </p:nvPr>
        </p:nvCxnSpPr>
        <p:spPr>
          <a:xfrm flipV="1">
            <a:off x="4729480" y="3263265"/>
            <a:ext cx="5080" cy="5721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>
            <p:custDataLst>
              <p:tags r:id="rId16"/>
            </p:custDataLst>
          </p:nvPr>
        </p:nvSpPr>
        <p:spPr>
          <a:xfrm>
            <a:off x="8973185" y="1773555"/>
            <a:ext cx="2840990" cy="1489710"/>
          </a:xfrm>
          <a:prstGeom prst="roundRect">
            <a:avLst/>
          </a:prstGeom>
          <a:ln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52" name="椭圆 51"/>
          <p:cNvSpPr/>
          <p:nvPr>
            <p:custDataLst>
              <p:tags r:id="rId17"/>
            </p:custDataLst>
          </p:nvPr>
        </p:nvSpPr>
        <p:spPr>
          <a:xfrm>
            <a:off x="9516745" y="3835400"/>
            <a:ext cx="1743075" cy="174879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18"/>
            </p:custDataLst>
          </p:nvPr>
        </p:nvSpPr>
        <p:spPr>
          <a:xfrm>
            <a:off x="9841230" y="4274820"/>
            <a:ext cx="1094105" cy="870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5400">
                <a:solidFill>
                  <a:schemeClr val="bg1"/>
                </a:solidFill>
                <a:sym typeface="+mn-ea"/>
              </a:rPr>
              <a:t>0</a:t>
            </a:r>
            <a:r>
              <a:rPr lang="en-US" sz="5400">
                <a:solidFill>
                  <a:schemeClr val="bg1"/>
                </a:solidFill>
                <a:sym typeface="+mn-ea"/>
              </a:rPr>
              <a:t>4</a:t>
            </a:r>
            <a:endParaRPr lang="en-US" sz="5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19"/>
            </p:custDataLst>
          </p:nvPr>
        </p:nvSpPr>
        <p:spPr>
          <a:xfrm>
            <a:off x="8973185" y="2212975"/>
            <a:ext cx="28511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3600" b="1">
                <a:solidFill>
                  <a:srgbClr val="1A3A6C"/>
                </a:solidFill>
                <a:latin typeface="+mn-ea"/>
                <a:sym typeface="+mn-ea"/>
              </a:rPr>
              <a:t>总结与展望</a:t>
            </a:r>
            <a:endParaRPr lang="zh-CN" altLang="en-US" sz="3600" b="1">
              <a:solidFill>
                <a:srgbClr val="1A3A6C"/>
              </a:solidFill>
              <a:latin typeface="+mn-ea"/>
              <a:sym typeface="+mn-ea"/>
            </a:endParaRPr>
          </a:p>
        </p:txBody>
      </p:sp>
      <p:cxnSp>
        <p:nvCxnSpPr>
          <p:cNvPr id="55" name="直接连接符 54"/>
          <p:cNvCxnSpPr>
            <a:stCxn id="52" idx="0"/>
            <a:endCxn id="51" idx="2"/>
          </p:cNvCxnSpPr>
          <p:nvPr>
            <p:custDataLst>
              <p:tags r:id="rId20"/>
            </p:custDataLst>
          </p:nvPr>
        </p:nvCxnSpPr>
        <p:spPr>
          <a:xfrm flipV="1">
            <a:off x="10388600" y="3263265"/>
            <a:ext cx="5080" cy="572135"/>
          </a:xfrm>
          <a:prstGeom prst="line">
            <a:avLst/>
          </a:prstGeom>
          <a:ln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椭圆 38"/>
          <p:cNvSpPr/>
          <p:nvPr/>
        </p:nvSpPr>
        <p:spPr>
          <a:xfrm>
            <a:off x="1207770" y="1663700"/>
            <a:ext cx="3325495" cy="3310890"/>
          </a:xfrm>
          <a:prstGeom prst="ellipse">
            <a:avLst/>
          </a:prstGeom>
          <a:solidFill>
            <a:srgbClr val="2E86A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38" name="椭圆 37"/>
          <p:cNvSpPr/>
          <p:nvPr/>
        </p:nvSpPr>
        <p:spPr>
          <a:xfrm>
            <a:off x="991235" y="1931035"/>
            <a:ext cx="3325495" cy="3310890"/>
          </a:xfrm>
          <a:prstGeom prst="ellipse">
            <a:avLst/>
          </a:prstGeom>
          <a:solidFill>
            <a:srgbClr val="E87C2A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1080135" y="1773555"/>
            <a:ext cx="3325495" cy="3310890"/>
          </a:xfrm>
          <a:prstGeom prst="ellipse">
            <a:avLst/>
          </a:prstGeom>
          <a:solidFill>
            <a:srgbClr val="1A3A6C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882775" y="2684145"/>
            <a:ext cx="1720215" cy="148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9600">
                <a:solidFill>
                  <a:schemeClr val="bg1"/>
                </a:solidFill>
                <a:sym typeface="+mn-ea"/>
              </a:rPr>
              <a:t>01</a:t>
            </a:r>
            <a:endParaRPr lang="zh-CN" altLang="en-US" sz="9600">
              <a:solidFill>
                <a:schemeClr val="bg1"/>
              </a:solidFill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63795" y="3013710"/>
            <a:ext cx="59918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solidFill>
                  <a:srgbClr val="1A3A6C"/>
                </a:solidFill>
                <a:latin typeface="+mn-ea"/>
              </a:rPr>
              <a:t>行业痛点与解决方案</a:t>
            </a:r>
            <a:endParaRPr lang="zh-CN" altLang="en-US" sz="4800" b="1">
              <a:solidFill>
                <a:srgbClr val="1A3A6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项目定位 | </a:t>
            </a:r>
            <a:r>
              <a:t>从通用问答到工程实训导师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第一章 · </a:t>
            </a:r>
            <a:r>
              <a:rPr lang="zh-CN"/>
              <a:t>行业痛点</a:t>
            </a:r>
            <a:r>
              <a:t>与</a:t>
            </a:r>
            <a:r>
              <a:rPr lang="zh-CN"/>
              <a:t>解决</a:t>
            </a:r>
            <a:r>
              <a:t>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3/20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ectangle 9"/>
          <p:cNvSpPr/>
          <p:nvPr>
            <p:custDataLst>
              <p:tags r:id="rId1"/>
            </p:custDataLst>
          </p:nvPr>
        </p:nvSpPr>
        <p:spPr>
          <a:xfrm>
            <a:off x="655167" y="1463040"/>
            <a:ext cx="3474720" cy="4114800"/>
          </a:xfrm>
          <a:prstGeom prst="rect">
            <a:avLst/>
          </a:prstGeom>
          <a:solidFill>
            <a:srgbClr val="F0F2F5"/>
          </a:solidFill>
          <a:ln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2"/>
            </p:custDataLst>
          </p:nvPr>
        </p:nvSpPr>
        <p:spPr>
          <a:xfrm>
            <a:off x="655167" y="1463040"/>
            <a:ext cx="3474720" cy="82296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655167" y="1544193"/>
            <a:ext cx="3474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400"/>
              <a:t>传统课程</a:t>
            </a:r>
            <a:endParaRPr sz="2400"/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655167" y="1944878"/>
            <a:ext cx="34747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标准化批量教学</a:t>
            </a:r>
            <a:endParaRPr sz="1600"/>
          </a:p>
        </p:txBody>
      </p: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838047" y="2468880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A6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929487" y="2585720"/>
            <a:ext cx="2926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600"/>
              <a:t>一套课程 → 所有人</a:t>
            </a:r>
            <a:endParaRPr sz="1600"/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929487" y="3246120"/>
            <a:ext cx="2926080" cy="192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统一课程大纲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固定教学节奏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所有学生同一路径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缺乏个性化适配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理论与实践易脱节</a:t>
            </a:r>
            <a:endParaRPr sz="1600"/>
          </a:p>
        </p:txBody>
      </p:sp>
      <p:sp>
        <p:nvSpPr>
          <p:cNvPr id="17" name="Rectangle 16"/>
          <p:cNvSpPr/>
          <p:nvPr>
            <p:custDataLst>
              <p:tags r:id="rId8"/>
            </p:custDataLst>
          </p:nvPr>
        </p:nvSpPr>
        <p:spPr>
          <a:xfrm>
            <a:off x="4358487" y="1463040"/>
            <a:ext cx="3474720" cy="4114800"/>
          </a:xfrm>
          <a:prstGeom prst="rect">
            <a:avLst/>
          </a:prstGeom>
          <a:solidFill>
            <a:srgbClr val="EDF5F9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9"/>
            </p:custDataLst>
          </p:nvPr>
        </p:nvSpPr>
        <p:spPr>
          <a:xfrm>
            <a:off x="4358487" y="1463040"/>
            <a:ext cx="3474720" cy="8229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4358487" y="1544193"/>
            <a:ext cx="3474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400"/>
              <a:t>普通通用AI</a:t>
            </a:r>
            <a:endParaRPr sz="2400"/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4358487" y="1944878"/>
            <a:ext cx="34747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一次性问答交互</a:t>
            </a:r>
            <a:endParaRPr sz="1600"/>
          </a:p>
        </p:txBody>
      </p:sp>
      <p:sp>
        <p:nvSpPr>
          <p:cNvPr id="21" name="Rectangle 20"/>
          <p:cNvSpPr/>
          <p:nvPr>
            <p:custDataLst>
              <p:tags r:id="rId12"/>
            </p:custDataLst>
          </p:nvPr>
        </p:nvSpPr>
        <p:spPr>
          <a:xfrm>
            <a:off x="4541367" y="2468880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4632807" y="2585720"/>
            <a:ext cx="29260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600"/>
              <a:t>一个问题 → 一次回答</a:t>
            </a:r>
            <a:endParaRPr sz="1600"/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4632807" y="3246120"/>
            <a:ext cx="2926080" cy="192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单次问题单次回答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缺少持续上下文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无学习路径规划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内容可靠性难保证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无学情评估反馈</a:t>
            </a:r>
            <a:endParaRPr sz="1600"/>
          </a:p>
        </p:txBody>
      </p:sp>
      <p:sp>
        <p:nvSpPr>
          <p:cNvPr id="24" name="Rectangle 23"/>
          <p:cNvSpPr/>
          <p:nvPr>
            <p:custDataLst>
              <p:tags r:id="rId15"/>
            </p:custDataLst>
          </p:nvPr>
        </p:nvSpPr>
        <p:spPr>
          <a:xfrm>
            <a:off x="8061807" y="1463040"/>
            <a:ext cx="3474720" cy="4114800"/>
          </a:xfrm>
          <a:prstGeom prst="rect">
            <a:avLst/>
          </a:prstGeom>
          <a:solidFill>
            <a:srgbClr val="E8EEF8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16"/>
            </p:custDataLst>
          </p:nvPr>
        </p:nvSpPr>
        <p:spPr>
          <a:xfrm>
            <a:off x="8061807" y="1463040"/>
            <a:ext cx="3474720" cy="82296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7"/>
            </p:custDataLst>
          </p:nvPr>
        </p:nvSpPr>
        <p:spPr>
          <a:xfrm>
            <a:off x="8061807" y="1544193"/>
            <a:ext cx="3474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400"/>
              <a:t>本作品</a:t>
            </a:r>
            <a:endParaRPr sz="2400"/>
          </a:p>
        </p:txBody>
      </p:sp>
      <p:sp>
        <p:nvSpPr>
          <p:cNvPr id="27" name="TextBox 26"/>
          <p:cNvSpPr txBox="1"/>
          <p:nvPr>
            <p:custDataLst>
              <p:tags r:id="rId18"/>
            </p:custDataLst>
          </p:nvPr>
        </p:nvSpPr>
        <p:spPr>
          <a:xfrm>
            <a:off x="8061807" y="1944878"/>
            <a:ext cx="34747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多智能体协同陪伴</a:t>
            </a:r>
            <a:endParaRPr sz="1600"/>
          </a:p>
        </p:txBody>
      </p:sp>
      <p:sp>
        <p:nvSpPr>
          <p:cNvPr id="28" name="Rectangle 27"/>
          <p:cNvSpPr/>
          <p:nvPr>
            <p:custDataLst>
              <p:tags r:id="rId19"/>
            </p:custDataLst>
          </p:nvPr>
        </p:nvSpPr>
        <p:spPr>
          <a:xfrm>
            <a:off x="8244687" y="2468880"/>
            <a:ext cx="31089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>
            <p:custDataLst>
              <p:tags r:id="rId20"/>
            </p:custDataLst>
          </p:nvPr>
        </p:nvSpPr>
        <p:spPr>
          <a:xfrm>
            <a:off x="8336127" y="2447290"/>
            <a:ext cx="29260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600"/>
              <a:t>一个学习者 → 动态路径 → 多Agent持续协同</a:t>
            </a:r>
            <a:endParaRPr sz="1600"/>
          </a:p>
        </p:txBody>
      </p:sp>
      <p:sp>
        <p:nvSpPr>
          <p:cNvPr id="30" name="TextBox 29"/>
          <p:cNvSpPr txBox="1"/>
          <p:nvPr>
            <p:custDataLst>
              <p:tags r:id="rId21"/>
            </p:custDataLst>
          </p:nvPr>
        </p:nvSpPr>
        <p:spPr>
          <a:xfrm>
            <a:off x="8336127" y="3246120"/>
            <a:ext cx="2926080" cy="192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动态学情画像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知识点级路径规划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个性化资源生成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专业审核与辩论修正</a:t>
            </a:r>
            <a:endParaRPr sz="1600"/>
          </a:p>
          <a:p>
            <a:pPr algn="l">
              <a:spcAft>
                <a:spcPts val="118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反馈驱动动态决策</a:t>
            </a:r>
            <a:endParaRPr sz="1600"/>
          </a:p>
        </p:txBody>
      </p:sp>
      <p:sp>
        <p:nvSpPr>
          <p:cNvPr id="31" name="Rectangle 30"/>
          <p:cNvSpPr/>
          <p:nvPr/>
        </p:nvSpPr>
        <p:spPr>
          <a:xfrm>
            <a:off x="640080" y="571627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71627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76199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812282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本作品解决的不是「让模型再生成一份教程」，而是「让系统持续陪伴不同学习者完成一条可靠的工程实训路径」。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赛题痛点</a:t>
            </a:r>
            <a:r>
              <a:rPr lang="en-US" altLang="zh-CN"/>
              <a:t> | </a:t>
            </a:r>
            <a:r>
              <a:t>技能培训面临三重困境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第一章 · </a:t>
            </a:r>
            <a:r>
              <a:rPr lang="zh-CN">
                <a:sym typeface="+mn-ea"/>
              </a:rPr>
              <a:t>行业痛点</a:t>
            </a:r>
            <a:r>
              <a:rPr>
                <a:sym typeface="+mn-ea"/>
              </a:rPr>
              <a:t>与</a:t>
            </a:r>
            <a:r>
              <a:rPr lang="zh-CN">
                <a:sym typeface="+mn-ea"/>
              </a:rPr>
              <a:t>解决</a:t>
            </a:r>
            <a:r>
              <a:t>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4/20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1463040"/>
            <a:ext cx="356616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287" y="1463040"/>
            <a:ext cx="3566160" cy="91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9567" y="1754505"/>
            <a:ext cx="219456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sz="2400"/>
              <a:t>学习路径千人一面</a:t>
            </a:r>
            <a:endParaRPr sz="2400"/>
          </a:p>
        </p:txBody>
      </p:sp>
      <p:sp>
        <p:nvSpPr>
          <p:cNvPr id="14" name="Rectangle 13"/>
          <p:cNvSpPr/>
          <p:nvPr/>
        </p:nvSpPr>
        <p:spPr>
          <a:xfrm>
            <a:off x="746607" y="2651760"/>
            <a:ext cx="3017520" cy="182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327" y="2834640"/>
            <a:ext cx="2926080" cy="190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零基础与有经验者路径相同，重复学习</a:t>
            </a:r>
            <a:endParaRPr sz="1600"/>
          </a:p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低显存用户无法直接使用高配置实训方案</a:t>
            </a:r>
            <a:endParaRPr sz="1600"/>
          </a:p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工程部署需求与理论学习内容错位</a:t>
            </a:r>
            <a:endParaRPr sz="1600"/>
          </a:p>
        </p:txBody>
      </p:sp>
      <p:sp>
        <p:nvSpPr>
          <p:cNvPr id="16" name="Rectangle 15"/>
          <p:cNvSpPr/>
          <p:nvPr/>
        </p:nvSpPr>
        <p:spPr>
          <a:xfrm>
            <a:off x="4312767" y="1463040"/>
            <a:ext cx="356616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12767" y="1463040"/>
            <a:ext cx="3566160" cy="914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7087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047" y="1754505"/>
            <a:ext cx="219456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2400"/>
              <a:t>专业内容存在幻觉风险</a:t>
            </a:r>
            <a:endParaRPr sz="2400"/>
          </a:p>
        </p:txBody>
      </p:sp>
      <p:sp>
        <p:nvSpPr>
          <p:cNvPr id="20" name="Rectangle 19"/>
          <p:cNvSpPr/>
          <p:nvPr/>
        </p:nvSpPr>
        <p:spPr>
          <a:xfrm>
            <a:off x="4587087" y="2651760"/>
            <a:ext cx="3017520" cy="1828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807" y="2834640"/>
            <a:ext cx="2926080" cy="190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参数、API、训练步骤可能错误</a:t>
            </a:r>
            <a:endParaRPr sz="1600"/>
          </a:p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代码可能无法运行，缺乏知识来源</a:t>
            </a:r>
            <a:endParaRPr sz="1600"/>
          </a:p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测试题无约束生成，直接影响学情判断</a:t>
            </a:r>
            <a:endParaRPr sz="1600"/>
          </a:p>
        </p:txBody>
      </p:sp>
      <p:sp>
        <p:nvSpPr>
          <p:cNvPr id="22" name="Rectangle 21"/>
          <p:cNvSpPr/>
          <p:nvPr/>
        </p:nvSpPr>
        <p:spPr>
          <a:xfrm>
            <a:off x="8153247" y="1463040"/>
            <a:ext cx="356616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3247" y="1463040"/>
            <a:ext cx="3566160" cy="914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7567" y="17373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0527" y="1754505"/>
            <a:ext cx="219456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2400"/>
              <a:t>静态课程无法动态调整</a:t>
            </a:r>
            <a:endParaRPr sz="2400"/>
          </a:p>
        </p:txBody>
      </p:sp>
      <p:sp>
        <p:nvSpPr>
          <p:cNvPr id="26" name="Rectangle 25"/>
          <p:cNvSpPr/>
          <p:nvPr/>
        </p:nvSpPr>
        <p:spPr>
          <a:xfrm>
            <a:off x="8427567" y="2651760"/>
            <a:ext cx="3017520" cy="18288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3287" y="2834640"/>
            <a:ext cx="2926080" cy="141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答错后仍按原路线推进</a:t>
            </a:r>
            <a:endParaRPr sz="1600"/>
          </a:p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已掌握内容无法跳过</a:t>
            </a:r>
            <a:endParaRPr sz="1600"/>
          </a:p>
          <a:p>
            <a:pPr algn="l">
              <a:spcAft>
                <a:spcPts val="131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用户提问不会反映到下一阶段规划</a:t>
            </a:r>
            <a:endParaRPr sz="1600"/>
          </a:p>
        </p:txBody>
      </p:sp>
      <p:sp>
        <p:nvSpPr>
          <p:cNvPr id="32" name="Rectangle 30"/>
          <p:cNvSpPr/>
          <p:nvPr/>
        </p:nvSpPr>
        <p:spPr>
          <a:xfrm>
            <a:off x="640080" y="562737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1"/>
          <p:cNvSpPr/>
          <p:nvPr/>
        </p:nvSpPr>
        <p:spPr>
          <a:xfrm>
            <a:off x="640080" y="562737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2"/>
          <p:cNvSpPr txBox="1"/>
          <p:nvPr/>
        </p:nvSpPr>
        <p:spPr>
          <a:xfrm>
            <a:off x="868680" y="567309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35" name="TextBox 33"/>
          <p:cNvSpPr txBox="1"/>
          <p:nvPr/>
        </p:nvSpPr>
        <p:spPr>
          <a:xfrm>
            <a:off x="1280160" y="572338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专业技能培训需要的不只是内容生成，而是「诊断—生成—审核—测试—决策」的完整闭环。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作品总体方案 | </a:t>
            </a:r>
            <a:r>
              <a:t>知识驱动 · 多Agent协同 · 闭环实训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第一章 · </a:t>
            </a:r>
            <a:r>
              <a:rPr lang="zh-CN">
                <a:sym typeface="+mn-ea"/>
              </a:rPr>
              <a:t>行业痛点</a:t>
            </a:r>
            <a:r>
              <a:rPr>
                <a:sym typeface="+mn-ea"/>
              </a:rPr>
              <a:t>与</a:t>
            </a:r>
            <a:r>
              <a:rPr lang="zh-CN">
                <a:sym typeface="+mn-ea"/>
              </a:rPr>
              <a:t>解决</a:t>
            </a:r>
            <a:r>
              <a:t>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5/20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027" y="1645920"/>
            <a:ext cx="1234440" cy="64008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027" y="1828800"/>
            <a:ext cx="1234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学情画像</a:t>
            </a:r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1895322" y="1783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9627" y="1645920"/>
            <a:ext cx="1234440" cy="64008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9627" y="1828800"/>
            <a:ext cx="1234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盲区定位</a:t>
            </a:r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3266922" y="1783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1227" y="1645920"/>
            <a:ext cx="1234440" cy="64008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1227" y="1697355"/>
            <a:ext cx="123444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知识点级阶段规划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4638522" y="1783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92827" y="1645920"/>
            <a:ext cx="1234440" cy="64008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92827" y="1697355"/>
            <a:ext cx="123444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个性化资源生成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6010122" y="1783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1645920"/>
            <a:ext cx="123444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4427" y="1828800"/>
            <a:ext cx="1234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专业审核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7381722" y="1783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36027" y="1645920"/>
            <a:ext cx="123444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36027" y="1828800"/>
            <a:ext cx="1234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学习与测试</a:t>
            </a:r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8753322" y="1783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07627" y="1645920"/>
            <a:ext cx="1234440" cy="64008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07627" y="1828800"/>
            <a:ext cx="1234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动态决策</a:t>
            </a:r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10124922" y="178308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79227" y="1645920"/>
            <a:ext cx="1234440" cy="64008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79227" y="1697355"/>
            <a:ext cx="123444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下一阶段</a:t>
            </a:r>
            <a:endParaRPr sz="1600"/>
          </a:p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循环</a:t>
            </a:r>
            <a:endParaRPr sz="1600"/>
          </a:p>
        </p:txBody>
      </p:sp>
      <p:sp>
        <p:nvSpPr>
          <p:cNvPr id="33" name="Rounded Rectangle 32"/>
          <p:cNvSpPr/>
          <p:nvPr/>
        </p:nvSpPr>
        <p:spPr>
          <a:xfrm>
            <a:off x="10439247" y="2350135"/>
            <a:ext cx="914400" cy="320040"/>
          </a:xfrm>
          <a:prstGeom prst="roundRect">
            <a:avLst/>
          </a:prstGeom>
          <a:solidFill>
            <a:srgbClr val="FD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39247" y="237756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↺ 循环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5167" y="3017520"/>
            <a:ext cx="2514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5167" y="3017520"/>
            <a:ext cx="2514600" cy="54864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047" y="3211830"/>
            <a:ext cx="2148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2000"/>
              <a:t>个性化</a:t>
            </a:r>
            <a:endParaRPr sz="2000"/>
          </a:p>
        </p:txBody>
      </p:sp>
      <p:sp>
        <p:nvSpPr>
          <p:cNvPr id="38" name="TextBox 37"/>
          <p:cNvSpPr txBox="1"/>
          <p:nvPr/>
        </p:nvSpPr>
        <p:spPr>
          <a:xfrm>
            <a:off x="883767" y="3783330"/>
            <a:ext cx="2057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2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适配基础、目标、时间、偏好、硬件</a:t>
            </a:r>
            <a:endParaRPr sz="1600"/>
          </a:p>
        </p:txBody>
      </p:sp>
      <p:sp>
        <p:nvSpPr>
          <p:cNvPr id="39" name="Rectangle 38"/>
          <p:cNvSpPr/>
          <p:nvPr/>
        </p:nvSpPr>
        <p:spPr>
          <a:xfrm>
            <a:off x="3444087" y="3017520"/>
            <a:ext cx="2514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44087" y="3017520"/>
            <a:ext cx="2514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26967" y="3211830"/>
            <a:ext cx="2148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2000"/>
              <a:t>高保真</a:t>
            </a:r>
            <a:endParaRPr sz="2000"/>
          </a:p>
        </p:txBody>
      </p:sp>
      <p:sp>
        <p:nvSpPr>
          <p:cNvPr id="42" name="TextBox 41"/>
          <p:cNvSpPr txBox="1"/>
          <p:nvPr/>
        </p:nvSpPr>
        <p:spPr>
          <a:xfrm>
            <a:off x="3672687" y="3783330"/>
            <a:ext cx="2057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2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知识溯源、独立审核、辩论修正</a:t>
            </a:r>
            <a:endParaRPr sz="1600"/>
          </a:p>
        </p:txBody>
      </p:sp>
      <p:sp>
        <p:nvSpPr>
          <p:cNvPr id="43" name="Rectangle 42"/>
          <p:cNvSpPr/>
          <p:nvPr/>
        </p:nvSpPr>
        <p:spPr>
          <a:xfrm>
            <a:off x="6233007" y="3017520"/>
            <a:ext cx="2514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33007" y="3017520"/>
            <a:ext cx="25146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5887" y="3211830"/>
            <a:ext cx="2148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2000"/>
              <a:t>动态化</a:t>
            </a:r>
            <a:endParaRPr sz="2000"/>
          </a:p>
        </p:txBody>
      </p:sp>
      <p:sp>
        <p:nvSpPr>
          <p:cNvPr id="46" name="TextBox 45"/>
          <p:cNvSpPr txBox="1"/>
          <p:nvPr/>
        </p:nvSpPr>
        <p:spPr>
          <a:xfrm>
            <a:off x="6461607" y="3783330"/>
            <a:ext cx="2057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2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每阶段结束后根据反馈重新规划</a:t>
            </a:r>
            <a:endParaRPr sz="1600"/>
          </a:p>
        </p:txBody>
      </p:sp>
      <p:sp>
        <p:nvSpPr>
          <p:cNvPr id="47" name="Rectangle 46"/>
          <p:cNvSpPr/>
          <p:nvPr/>
        </p:nvSpPr>
        <p:spPr>
          <a:xfrm>
            <a:off x="9021927" y="3017520"/>
            <a:ext cx="2514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21927" y="3017520"/>
            <a:ext cx="251460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04807" y="3211830"/>
            <a:ext cx="2148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2000"/>
              <a:t>工程化</a:t>
            </a:r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9250527" y="3783330"/>
            <a:ext cx="2057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20"/>
              </a:spcAft>
              <a:defRPr sz="13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状态持久化、三级容错、可部署运行</a:t>
            </a:r>
            <a:endParaRPr sz="1600"/>
          </a:p>
        </p:txBody>
      </p:sp>
      <p:sp>
        <p:nvSpPr>
          <p:cNvPr id="55" name="Rectangle 30"/>
          <p:cNvSpPr/>
          <p:nvPr/>
        </p:nvSpPr>
        <p:spPr>
          <a:xfrm>
            <a:off x="640080" y="5446395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31"/>
          <p:cNvSpPr/>
          <p:nvPr/>
        </p:nvSpPr>
        <p:spPr>
          <a:xfrm>
            <a:off x="640080" y="5446395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32"/>
          <p:cNvSpPr txBox="1"/>
          <p:nvPr/>
        </p:nvSpPr>
        <p:spPr>
          <a:xfrm>
            <a:off x="868680" y="549211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58" name="TextBox 33"/>
          <p:cNvSpPr txBox="1"/>
          <p:nvPr/>
        </p:nvSpPr>
        <p:spPr>
          <a:xfrm>
            <a:off x="1280160" y="5542407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系统形成符合赛题「分析—生成—校验—决策」要求的端到端闭环。</a:t>
            </a:r>
            <a:endParaRPr lang="zh-CN" altLang="en-US" sz="1600"/>
          </a:p>
        </p:txBody>
      </p:sp>
      <p:cxnSp>
        <p:nvCxnSpPr>
          <p:cNvPr id="60" name="肘形连接符 59"/>
          <p:cNvCxnSpPr>
            <a:stCxn id="34" idx="1"/>
            <a:endCxn id="10" idx="2"/>
          </p:cNvCxnSpPr>
          <p:nvPr/>
        </p:nvCxnSpPr>
        <p:spPr>
          <a:xfrm rot="10800000">
            <a:off x="1295400" y="2286000"/>
            <a:ext cx="9144000" cy="228600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椭圆 38"/>
          <p:cNvSpPr/>
          <p:nvPr/>
        </p:nvSpPr>
        <p:spPr>
          <a:xfrm>
            <a:off x="1207770" y="1663700"/>
            <a:ext cx="3325495" cy="3310890"/>
          </a:xfrm>
          <a:prstGeom prst="ellipse">
            <a:avLst/>
          </a:prstGeom>
          <a:solidFill>
            <a:srgbClr val="2E86A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38" name="椭圆 37"/>
          <p:cNvSpPr/>
          <p:nvPr/>
        </p:nvSpPr>
        <p:spPr>
          <a:xfrm>
            <a:off x="991235" y="1931035"/>
            <a:ext cx="3325495" cy="3310890"/>
          </a:xfrm>
          <a:prstGeom prst="ellipse">
            <a:avLst/>
          </a:prstGeom>
          <a:solidFill>
            <a:srgbClr val="E87C2A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1080135" y="1773555"/>
            <a:ext cx="3325495" cy="3310890"/>
          </a:xfrm>
          <a:prstGeom prst="ellipse">
            <a:avLst/>
          </a:prstGeom>
          <a:solidFill>
            <a:srgbClr val="1A3A6C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882775" y="2684145"/>
            <a:ext cx="1720215" cy="148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9600">
                <a:solidFill>
                  <a:schemeClr val="bg1"/>
                </a:solidFill>
                <a:sym typeface="+mn-ea"/>
              </a:rPr>
              <a:t>0</a:t>
            </a:r>
            <a:r>
              <a:rPr lang="en-US" sz="9600">
                <a:solidFill>
                  <a:schemeClr val="bg1"/>
                </a:solidFill>
                <a:sym typeface="+mn-ea"/>
              </a:rPr>
              <a:t>2</a:t>
            </a:r>
            <a:endParaRPr lang="en-US" sz="9600">
              <a:solidFill>
                <a:schemeClr val="bg1"/>
              </a:solidFill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63795" y="3013710"/>
            <a:ext cx="59918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solidFill>
                  <a:srgbClr val="1A3A6C"/>
                </a:solidFill>
                <a:latin typeface="+mn-ea"/>
              </a:rPr>
              <a:t>系统设计与技术实现</a:t>
            </a:r>
            <a:endParaRPr lang="zh-CN" altLang="en-US" sz="4800" b="1">
              <a:solidFill>
                <a:srgbClr val="1A3A6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lang="en-US">
                <a:sym typeface="+mn-ea"/>
              </a:rPr>
              <a:t>Agent</a:t>
            </a:r>
            <a:r>
              <a:rPr lang="zh-CN" altLang="en-US">
                <a:sym typeface="+mn-ea"/>
              </a:rPr>
              <a:t>分工</a:t>
            </a:r>
            <a:r>
              <a:rPr>
                <a:sym typeface="+mn-ea"/>
              </a:rPr>
              <a:t> | </a:t>
            </a:r>
            <a:r>
              <a:t>四个Agent · 职责分明 · 协同闭环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6/20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3847" y="1371600"/>
            <a:ext cx="9144000" cy="82296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23847" y="1463040"/>
            <a:ext cx="9144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400"/>
              <a:t>Orchestrator 多智能体协同编排中枢</a:t>
            </a:r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523847" y="182880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D0EA"/>
                </a:solidFill>
                <a:latin typeface="微软雅黑" panose="020B0503020204020204" charset="-122"/>
              </a:defRPr>
            </a:pPr>
            <a:r>
              <a:rPr sz="1400"/>
              <a:t>状态管理 · 调用调度 · 并发控制 · 轮次控制 · 回退处理 · 持久化</a:t>
            </a:r>
            <a:endParaRPr sz="1400"/>
          </a:p>
        </p:txBody>
      </p:sp>
      <p:sp>
        <p:nvSpPr>
          <p:cNvPr id="13" name="Rectangle 12"/>
          <p:cNvSpPr/>
          <p:nvPr/>
        </p:nvSpPr>
        <p:spPr>
          <a:xfrm>
            <a:off x="1898751" y="2194560"/>
            <a:ext cx="27432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543810"/>
            <a:ext cx="2606040" cy="3037205"/>
          </a:xfrm>
          <a:prstGeom prst="rect">
            <a:avLst/>
          </a:prstGeom>
          <a:solidFill>
            <a:srgbClr val="FFFFFF"/>
          </a:solidFill>
          <a:ln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447" y="2543810"/>
            <a:ext cx="2606040" cy="914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78127" y="2755265"/>
            <a:ext cx="868680" cy="868680"/>
          </a:xfrm>
          <a:prstGeom prst="ellipse">
            <a:avLst/>
          </a:prstGeom>
          <a:solidFill>
            <a:srgbClr val="F5F7FA"/>
          </a:solidFill>
          <a:ln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6692" y="290957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7483647" y="4023360"/>
            <a:ext cx="1097280" cy="32004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7483647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画像 · 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07" y="3818255"/>
            <a:ext cx="2331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学情诊断与阶段规划 Agent</a:t>
            </a:r>
            <a:endParaRPr sz="1800"/>
          </a:p>
        </p:txBody>
      </p:sp>
      <p:sp>
        <p:nvSpPr>
          <p:cNvPr id="21" name="TextBox 20"/>
          <p:cNvSpPr txBox="1"/>
          <p:nvPr/>
        </p:nvSpPr>
        <p:spPr>
          <a:xfrm>
            <a:off x="792327" y="4469765"/>
            <a:ext cx="2240280" cy="9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生成学习画像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定位知识盲区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知识点级阶段规划</a:t>
            </a:r>
            <a:endParaRPr sz="1400"/>
          </a:p>
        </p:txBody>
      </p:sp>
      <p:sp>
        <p:nvSpPr>
          <p:cNvPr id="22" name="Rectangle 21"/>
          <p:cNvSpPr/>
          <p:nvPr/>
        </p:nvSpPr>
        <p:spPr>
          <a:xfrm>
            <a:off x="4687671" y="2194560"/>
            <a:ext cx="27432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8520" y="2543810"/>
            <a:ext cx="2606040" cy="3037205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98367" y="2543810"/>
            <a:ext cx="260604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67047" y="2755265"/>
            <a:ext cx="868680" cy="868680"/>
          </a:xfrm>
          <a:prstGeom prst="ellipse">
            <a:avLst/>
          </a:prstGeom>
          <a:solidFill>
            <a:srgbClr val="F5F7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15612" y="290957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7483647" y="402336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7483647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生成 · 答疑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35527" y="3818255"/>
            <a:ext cx="2331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个性化学习资源生成 Agent</a:t>
            </a:r>
            <a:endParaRPr sz="1800"/>
          </a:p>
        </p:txBody>
      </p:sp>
      <p:sp>
        <p:nvSpPr>
          <p:cNvPr id="30" name="TextBox 29"/>
          <p:cNvSpPr txBox="1"/>
          <p:nvPr/>
        </p:nvSpPr>
        <p:spPr>
          <a:xfrm>
            <a:off x="3581247" y="4469765"/>
            <a:ext cx="2240280" cy="9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生成教程与代码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分阶实操指南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实时答疑支持</a:t>
            </a:r>
            <a:endParaRPr sz="1400"/>
          </a:p>
        </p:txBody>
      </p:sp>
      <p:sp>
        <p:nvSpPr>
          <p:cNvPr id="31" name="Rectangle 30"/>
          <p:cNvSpPr/>
          <p:nvPr/>
        </p:nvSpPr>
        <p:spPr>
          <a:xfrm>
            <a:off x="7476591" y="2194560"/>
            <a:ext cx="27432" cy="4572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7440" y="2543810"/>
            <a:ext cx="2606040" cy="3037205"/>
          </a:xfrm>
          <a:prstGeom prst="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7287" y="2543810"/>
            <a:ext cx="2606040" cy="914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55967" y="2755265"/>
            <a:ext cx="868680" cy="868680"/>
          </a:xfrm>
          <a:prstGeom prst="ellipse">
            <a:avLst/>
          </a:prstGeom>
          <a:solidFill>
            <a:srgbClr val="F5F7FA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532" y="290957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7483647" y="4023360"/>
            <a:ext cx="1097280" cy="32004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7483647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审核 · 裁判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4447" y="3818255"/>
            <a:ext cx="2331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专业知识与教学质量审核 Agent</a:t>
            </a:r>
            <a:endParaRPr sz="1800"/>
          </a:p>
        </p:txBody>
      </p:sp>
      <p:sp>
        <p:nvSpPr>
          <p:cNvPr id="39" name="TextBox 38"/>
          <p:cNvSpPr txBox="1"/>
          <p:nvPr/>
        </p:nvSpPr>
        <p:spPr>
          <a:xfrm>
            <a:off x="6370167" y="4469765"/>
            <a:ext cx="2240280" cy="9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技术正确性审核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知识来源核验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教学适配性审查</a:t>
            </a:r>
            <a:endParaRPr sz="1400"/>
          </a:p>
        </p:txBody>
      </p:sp>
      <p:sp>
        <p:nvSpPr>
          <p:cNvPr id="40" name="Rectangle 39"/>
          <p:cNvSpPr/>
          <p:nvPr/>
        </p:nvSpPr>
        <p:spPr>
          <a:xfrm>
            <a:off x="10265511" y="2194560"/>
            <a:ext cx="27432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76360" y="2543810"/>
            <a:ext cx="2606040" cy="3037205"/>
          </a:xfrm>
          <a:prstGeom prst="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76207" y="2543810"/>
            <a:ext cx="26060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44887" y="2755265"/>
            <a:ext cx="868680" cy="868680"/>
          </a:xfrm>
          <a:prstGeom prst="ellipse">
            <a:avLst/>
          </a:prstGeom>
          <a:solidFill>
            <a:srgbClr val="F5F7FA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93452" y="2909570"/>
            <a:ext cx="868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47483647" y="4023360"/>
            <a:ext cx="109728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47483647" y="4069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评估 · 决策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3367" y="3818255"/>
            <a:ext cx="2331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学情评估与动态决策 Agent</a:t>
            </a:r>
            <a:endParaRPr sz="1800"/>
          </a:p>
        </p:txBody>
      </p:sp>
      <p:sp>
        <p:nvSpPr>
          <p:cNvPr id="48" name="TextBox 47"/>
          <p:cNvSpPr txBox="1"/>
          <p:nvPr/>
        </p:nvSpPr>
        <p:spPr>
          <a:xfrm>
            <a:off x="9159087" y="4469765"/>
            <a:ext cx="2240280" cy="963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阶段测试评估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掌握状态更新</a:t>
            </a:r>
            <a:endParaRPr sz="1400"/>
          </a:p>
          <a:p>
            <a:pPr algn="l">
              <a:spcAft>
                <a:spcPts val="880"/>
              </a:spcAft>
              <a:defRPr sz="12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• 下一阶段策略</a:t>
            </a:r>
            <a:endParaRPr sz="1400"/>
          </a:p>
        </p:txBody>
      </p:sp>
      <p:sp>
        <p:nvSpPr>
          <p:cNvPr id="53" name="Rectangle 30"/>
          <p:cNvSpPr/>
          <p:nvPr/>
        </p:nvSpPr>
        <p:spPr>
          <a:xfrm>
            <a:off x="640080" y="572135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31"/>
          <p:cNvSpPr/>
          <p:nvPr/>
        </p:nvSpPr>
        <p:spPr>
          <a:xfrm>
            <a:off x="640080" y="572135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32"/>
          <p:cNvSpPr txBox="1"/>
          <p:nvPr/>
        </p:nvSpPr>
        <p:spPr>
          <a:xfrm>
            <a:off x="868680" y="576707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0" name="TextBox 33"/>
          <p:cNvSpPr txBox="1"/>
          <p:nvPr/>
        </p:nvSpPr>
        <p:spPr>
          <a:xfrm>
            <a:off x="1280160" y="5817362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报名简介中「学情诊断、领域专家、审核裁判」是业务角色概括；系统工程实现细化为四个职责明确的运行时</a:t>
            </a:r>
            <a:r>
              <a:rPr lang="en-US" altLang="zh-CN" sz="1600"/>
              <a:t>Agent。</a:t>
            </a:r>
            <a:r>
              <a:rPr lang="zh-CN" altLang="en-US" sz="1600"/>
              <a:t>多</a:t>
            </a:r>
            <a:r>
              <a:rPr lang="en-US" altLang="zh-CN" sz="1600"/>
              <a:t>Agent</a:t>
            </a:r>
            <a:r>
              <a:rPr lang="zh-CN" altLang="en-US" sz="1600"/>
              <a:t>不是名称堆叠，而是围绕不同输入、不同工具和不同决策目标的职责分工。</a:t>
            </a:r>
            <a:endParaRPr lang="zh-CN" alt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总体技术架构 | </a:t>
            </a:r>
            <a:r>
              <a:t>五层架构 · 完整系统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7/20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6675120" cy="685800"/>
          </a:xfrm>
          <a:prstGeom prst="round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用户交互层</a:t>
            </a:r>
            <a:endParaRPr sz="1800"/>
          </a:p>
        </p:txBody>
      </p:sp>
      <p:sp>
        <p:nvSpPr>
          <p:cNvPr id="12" name="Rectangle 11"/>
          <p:cNvSpPr/>
          <p:nvPr/>
        </p:nvSpPr>
        <p:spPr>
          <a:xfrm>
            <a:off x="2926080" y="1600200"/>
            <a:ext cx="1828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600200"/>
            <a:ext cx="40233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画像 ｜ 知识网络 ｜ 学习包 ｜ 测试 ｜ 报告</a:t>
            </a:r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640080" y="2221992"/>
            <a:ext cx="6675120" cy="685800"/>
          </a:xfrm>
          <a:prstGeom prst="roundRect">
            <a:avLst/>
          </a:prstGeom>
          <a:solidFill>
            <a:srgbClr val="3D7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13432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业务服务层</a:t>
            </a:r>
            <a:endParaRPr sz="1800"/>
          </a:p>
        </p:txBody>
      </p:sp>
      <p:sp>
        <p:nvSpPr>
          <p:cNvPr id="16" name="Rectangle 15"/>
          <p:cNvSpPr/>
          <p:nvPr/>
        </p:nvSpPr>
        <p:spPr>
          <a:xfrm>
            <a:off x="2926080" y="2359152"/>
            <a:ext cx="1828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376297"/>
            <a:ext cx="40233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React前端 ｜ FastAPI ｜ 会话服务</a:t>
            </a:r>
            <a:endParaRPr sz="1400"/>
          </a:p>
        </p:txBody>
      </p:sp>
      <p:sp>
        <p:nvSpPr>
          <p:cNvPr id="18" name="Rounded Rectangle 17"/>
          <p:cNvSpPr/>
          <p:nvPr/>
        </p:nvSpPr>
        <p:spPr>
          <a:xfrm>
            <a:off x="640080" y="2980944"/>
            <a:ext cx="6675120" cy="6858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72384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多Agent编排层</a:t>
            </a:r>
            <a:endParaRPr sz="1800"/>
          </a:p>
        </p:txBody>
      </p:sp>
      <p:sp>
        <p:nvSpPr>
          <p:cNvPr id="20" name="Rectangle 19"/>
          <p:cNvSpPr/>
          <p:nvPr/>
        </p:nvSpPr>
        <p:spPr>
          <a:xfrm>
            <a:off x="2926080" y="3118104"/>
            <a:ext cx="1828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135249"/>
            <a:ext cx="40233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Orchestrator ｜ 状态管理 ｜ 审核轮次控制</a:t>
            </a:r>
            <a:endParaRPr sz="1400"/>
          </a:p>
        </p:txBody>
      </p:sp>
      <p:sp>
        <p:nvSpPr>
          <p:cNvPr id="22" name="Rounded Rectangle 21"/>
          <p:cNvSpPr/>
          <p:nvPr/>
        </p:nvSpPr>
        <p:spPr>
          <a:xfrm>
            <a:off x="640080" y="3739896"/>
            <a:ext cx="6675120" cy="68580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31336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Skill / Tool层</a:t>
            </a:r>
            <a:endParaRPr sz="1800"/>
          </a:p>
        </p:txBody>
      </p:sp>
      <p:sp>
        <p:nvSpPr>
          <p:cNvPr id="24" name="Rectangle 23"/>
          <p:cNvSpPr/>
          <p:nvPr/>
        </p:nvSpPr>
        <p:spPr>
          <a:xfrm>
            <a:off x="2926080" y="3877056"/>
            <a:ext cx="18288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888486"/>
            <a:ext cx="40233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语义召回 ｜ 图谱查询 ｜ 代码检查 ｜ 规则核验</a:t>
            </a:r>
            <a:endParaRPr sz="1400"/>
          </a:p>
        </p:txBody>
      </p:sp>
      <p:sp>
        <p:nvSpPr>
          <p:cNvPr id="26" name="Rounded Rectangle 25"/>
          <p:cNvSpPr/>
          <p:nvPr/>
        </p:nvSpPr>
        <p:spPr>
          <a:xfrm>
            <a:off x="640080" y="4498848"/>
            <a:ext cx="6675120" cy="82296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673473"/>
            <a:ext cx="2011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数据与模型层</a:t>
            </a:r>
            <a:endParaRPr sz="1800"/>
          </a:p>
        </p:txBody>
      </p:sp>
      <p:sp>
        <p:nvSpPr>
          <p:cNvPr id="28" name="Rectangle 27"/>
          <p:cNvSpPr/>
          <p:nvPr/>
        </p:nvSpPr>
        <p:spPr>
          <a:xfrm>
            <a:off x="2926080" y="4636008"/>
            <a:ext cx="18288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636008"/>
            <a:ext cx="40233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SQLite + ChromaDB + 知识图谱 ｜ DeepSeek云端 + Ollama本地</a:t>
            </a:r>
            <a:endParaRPr sz="1400"/>
          </a:p>
        </p:txBody>
      </p:sp>
      <p:sp>
        <p:nvSpPr>
          <p:cNvPr id="30" name="Rounded Rectangle 29"/>
          <p:cNvSpPr/>
          <p:nvPr/>
        </p:nvSpPr>
        <p:spPr>
          <a:xfrm>
            <a:off x="7589520" y="1463040"/>
            <a:ext cx="4114800" cy="45720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522730"/>
            <a:ext cx="41148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📊 关键组件与数据规模</a:t>
            </a:r>
            <a:endParaRPr sz="1600"/>
          </a:p>
        </p:txBody>
      </p:sp>
      <p:sp>
        <p:nvSpPr>
          <p:cNvPr id="32" name="Rounded Rectangle 31"/>
          <p:cNvSpPr/>
          <p:nvPr/>
        </p:nvSpPr>
        <p:spPr>
          <a:xfrm>
            <a:off x="7589520" y="2103120"/>
            <a:ext cx="4114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75880" y="2129790"/>
            <a:ext cx="38404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📚 数据底座</a:t>
            </a:r>
            <a:endParaRPr sz="1400"/>
          </a:p>
        </p:txBody>
      </p:sp>
      <p:sp>
        <p:nvSpPr>
          <p:cNvPr id="34" name="TextBox 33"/>
          <p:cNvSpPr txBox="1"/>
          <p:nvPr/>
        </p:nvSpPr>
        <p:spPr>
          <a:xfrm>
            <a:off x="7726680" y="2423160"/>
            <a:ext cx="38404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15个板块 / 73个知识点 / 982个内容块 / 233道测试题</a:t>
            </a:r>
            <a:endParaRPr sz="1200"/>
          </a:p>
        </p:txBody>
      </p:sp>
      <p:sp>
        <p:nvSpPr>
          <p:cNvPr id="35" name="Rounded Rectangle 34"/>
          <p:cNvSpPr/>
          <p:nvPr/>
        </p:nvSpPr>
        <p:spPr>
          <a:xfrm>
            <a:off x="7589520" y="2880360"/>
            <a:ext cx="4114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5880" y="2907030"/>
            <a:ext cx="38404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🤖 生成服务</a:t>
            </a:r>
            <a:endParaRPr sz="1400"/>
          </a:p>
        </p:txBody>
      </p:sp>
      <p:sp>
        <p:nvSpPr>
          <p:cNvPr id="37" name="TextBox 36"/>
          <p:cNvSpPr txBox="1"/>
          <p:nvPr/>
        </p:nvSpPr>
        <p:spPr>
          <a:xfrm>
            <a:off x="7726680" y="3200400"/>
            <a:ext cx="38404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DeepSeek云端主模型 + Ollama本地回退</a:t>
            </a:r>
            <a:endParaRPr sz="1200"/>
          </a:p>
        </p:txBody>
      </p:sp>
      <p:sp>
        <p:nvSpPr>
          <p:cNvPr id="38" name="Rounded Rectangle 37"/>
          <p:cNvSpPr/>
          <p:nvPr/>
        </p:nvSpPr>
        <p:spPr>
          <a:xfrm>
            <a:off x="7589520" y="3657600"/>
            <a:ext cx="4114800" cy="76835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75880" y="3684270"/>
            <a:ext cx="38404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💾 存储组合</a:t>
            </a:r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7726680" y="3977640"/>
            <a:ext cx="396684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SQLite结构化状态 + ChromaDB语义检索 + NetworkX知识图谱</a:t>
            </a:r>
            <a:endParaRPr sz="1200"/>
          </a:p>
        </p:txBody>
      </p:sp>
      <p:sp>
        <p:nvSpPr>
          <p:cNvPr id="41" name="Rounded Rectangle 40"/>
          <p:cNvSpPr/>
          <p:nvPr/>
        </p:nvSpPr>
        <p:spPr>
          <a:xfrm>
            <a:off x="7589520" y="4514850"/>
            <a:ext cx="4114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75880" y="4541520"/>
            <a:ext cx="38404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🔧 部署模式</a:t>
            </a:r>
            <a:endParaRPr sz="1400"/>
          </a:p>
        </p:txBody>
      </p:sp>
      <p:sp>
        <p:nvSpPr>
          <p:cNvPr id="43" name="TextBox 42"/>
          <p:cNvSpPr txBox="1"/>
          <p:nvPr/>
        </p:nvSpPr>
        <p:spPr>
          <a:xfrm>
            <a:off x="7726680" y="4834890"/>
            <a:ext cx="38404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云端增强 / 本地隐私 / 混合容错三种模式</a:t>
            </a:r>
            <a:endParaRPr sz="1200"/>
          </a:p>
        </p:txBody>
      </p:sp>
      <p:sp>
        <p:nvSpPr>
          <p:cNvPr id="53" name="Rectangle 30"/>
          <p:cNvSpPr/>
          <p:nvPr/>
        </p:nvSpPr>
        <p:spPr>
          <a:xfrm>
            <a:off x="640080" y="5572125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31"/>
          <p:cNvSpPr/>
          <p:nvPr/>
        </p:nvSpPr>
        <p:spPr>
          <a:xfrm>
            <a:off x="640080" y="5572125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32"/>
          <p:cNvSpPr txBox="1"/>
          <p:nvPr/>
        </p:nvSpPr>
        <p:spPr>
          <a:xfrm>
            <a:off x="868680" y="561784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0" name="TextBox 33"/>
          <p:cNvSpPr txBox="1"/>
          <p:nvPr/>
        </p:nvSpPr>
        <p:spPr>
          <a:xfrm>
            <a:off x="1280160" y="5668137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作品是可运行的多智能体协同系统，而非单模型加若干</a:t>
            </a:r>
            <a:r>
              <a:rPr lang="en-US" altLang="zh-CN" sz="1600"/>
              <a:t>Prompt</a:t>
            </a:r>
            <a:r>
              <a:rPr lang="zh-CN" altLang="en-US" sz="1600"/>
              <a:t>的演示页面。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业务闭环 | </a:t>
            </a:r>
            <a:r>
              <a:t>八步闭环 · 从画像到动态决策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8/20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141732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152704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800"/>
              <a:t>学习者输入</a:t>
            </a:r>
            <a:endParaRPr sz="1800"/>
          </a:p>
        </p:txBody>
      </p:sp>
      <p:sp>
        <p:nvSpPr>
          <p:cNvPr id="14" name="TextBox 13"/>
          <p:cNvSpPr txBox="1"/>
          <p:nvPr/>
        </p:nvSpPr>
        <p:spPr>
          <a:xfrm>
            <a:off x="1600200" y="187452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基础、目标、时间、偏好、硬件</a:t>
            </a:r>
            <a:endParaRPr sz="1400"/>
          </a:p>
        </p:txBody>
      </p:sp>
      <p:sp>
        <p:nvSpPr>
          <p:cNvPr id="15" name="Oval 14"/>
          <p:cNvSpPr/>
          <p:nvPr/>
        </p:nvSpPr>
        <p:spPr>
          <a:xfrm>
            <a:off x="640080" y="2514600"/>
            <a:ext cx="640080" cy="640080"/>
          </a:xfrm>
          <a:prstGeom prst="ellipse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42316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253288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6B"/>
                </a:solidFill>
                <a:latin typeface="微软雅黑" panose="020B0503020204020204" charset="-122"/>
              </a:defRPr>
            </a:pPr>
            <a:r>
              <a:rPr sz="1800"/>
              <a:t>学情诊断与阶段规划 Agent</a:t>
            </a:r>
            <a:endParaRPr sz="1800"/>
          </a:p>
        </p:txBody>
      </p:sp>
      <p:sp>
        <p:nvSpPr>
          <p:cNvPr id="19" name="TextBox 18"/>
          <p:cNvSpPr txBox="1"/>
          <p:nvPr/>
        </p:nvSpPr>
        <p:spPr>
          <a:xfrm>
            <a:off x="1600200" y="288036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生成画像、定位盲区</a:t>
            </a:r>
            <a:endParaRPr sz="1400"/>
          </a:p>
        </p:txBody>
      </p:sp>
      <p:sp>
        <p:nvSpPr>
          <p:cNvPr id="20" name="Oval 19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342900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53872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800"/>
              <a:t>学情诊断与阶段规划 Agent</a:t>
            </a:r>
            <a:endParaRPr sz="1800"/>
          </a:p>
        </p:txBody>
      </p:sp>
      <p:sp>
        <p:nvSpPr>
          <p:cNvPr id="24" name="TextBox 23"/>
          <p:cNvSpPr txBox="1"/>
          <p:nvPr/>
        </p:nvSpPr>
        <p:spPr>
          <a:xfrm>
            <a:off x="1600200" y="388620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依据知识图谱生成当前阶段</a:t>
            </a:r>
            <a:endParaRPr sz="1400"/>
          </a:p>
        </p:txBody>
      </p:sp>
      <p:sp>
        <p:nvSpPr>
          <p:cNvPr id="25" name="Oval 24"/>
          <p:cNvSpPr/>
          <p:nvPr/>
        </p:nvSpPr>
        <p:spPr>
          <a:xfrm>
            <a:off x="640080" y="4526280"/>
            <a:ext cx="640080" cy="640080"/>
          </a:xfrm>
          <a:prstGeom prst="ellipse">
            <a:avLst/>
          </a:prstGeom>
          <a:solidFill>
            <a:srgbClr val="2E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17320" y="443484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E7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454456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A9E"/>
                </a:solidFill>
                <a:latin typeface="微软雅黑" panose="020B0503020204020204" charset="-122"/>
              </a:defRPr>
            </a:pPr>
            <a:r>
              <a:rPr sz="1800"/>
              <a:t>个性化学习资源生成 Agent</a:t>
            </a:r>
            <a:endParaRPr sz="1800"/>
          </a:p>
        </p:txBody>
      </p:sp>
      <p:sp>
        <p:nvSpPr>
          <p:cNvPr id="29" name="TextBox 28"/>
          <p:cNvSpPr txBox="1"/>
          <p:nvPr/>
        </p:nvSpPr>
        <p:spPr>
          <a:xfrm>
            <a:off x="1600200" y="489204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生成教程、代码、实操指南</a:t>
            </a:r>
            <a:endParaRPr sz="1400"/>
          </a:p>
        </p:txBody>
      </p:sp>
      <p:sp>
        <p:nvSpPr>
          <p:cNvPr id="30" name="Rounded Rectangle 29"/>
          <p:cNvSpPr/>
          <p:nvPr/>
        </p:nvSpPr>
        <p:spPr>
          <a:xfrm>
            <a:off x="6400800" y="443484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54456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800"/>
              <a:t>专业知识与教学质量审核 Agent</a:t>
            </a:r>
            <a:endParaRPr sz="1800"/>
          </a:p>
        </p:txBody>
      </p:sp>
      <p:sp>
        <p:nvSpPr>
          <p:cNvPr id="32" name="TextBox 31"/>
          <p:cNvSpPr txBox="1"/>
          <p:nvPr/>
        </p:nvSpPr>
        <p:spPr>
          <a:xfrm>
            <a:off x="6583680" y="489204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审核、反馈、复核</a:t>
            </a:r>
            <a:endParaRPr sz="1400"/>
          </a:p>
        </p:txBody>
      </p:sp>
      <p:sp>
        <p:nvSpPr>
          <p:cNvPr id="33" name="Oval 32"/>
          <p:cNvSpPr/>
          <p:nvPr/>
        </p:nvSpPr>
        <p:spPr>
          <a:xfrm>
            <a:off x="10744200" y="4526280"/>
            <a:ext cx="640080" cy="640080"/>
          </a:xfrm>
          <a:prstGeom prst="ellipse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44200" y="4617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42900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353872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6A1A"/>
                </a:solidFill>
                <a:latin typeface="微软雅黑" panose="020B0503020204020204" charset="-122"/>
              </a:defRPr>
            </a:pPr>
            <a:r>
              <a:rPr sz="1800"/>
              <a:t>学习者学习</a:t>
            </a:r>
            <a:endParaRPr sz="1800"/>
          </a:p>
        </p:txBody>
      </p:sp>
      <p:sp>
        <p:nvSpPr>
          <p:cNvPr id="37" name="TextBox 36"/>
          <p:cNvSpPr txBox="1"/>
          <p:nvPr/>
        </p:nvSpPr>
        <p:spPr>
          <a:xfrm>
            <a:off x="6583680" y="388620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阅读教程、运行代码、随时提问</a:t>
            </a:r>
            <a:endParaRPr sz="1400"/>
          </a:p>
        </p:txBody>
      </p:sp>
      <p:sp>
        <p:nvSpPr>
          <p:cNvPr id="38" name="Oval 37"/>
          <p:cNvSpPr/>
          <p:nvPr/>
        </p:nvSpPr>
        <p:spPr>
          <a:xfrm>
            <a:off x="10744200" y="3520440"/>
            <a:ext cx="640080" cy="640080"/>
          </a:xfrm>
          <a:prstGeom prst="ellipse">
            <a:avLst/>
          </a:prstGeom>
          <a:solidFill>
            <a:srgbClr val="D4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44200" y="36118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42316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253288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800"/>
              <a:t>阶段测试</a:t>
            </a:r>
            <a:endParaRPr sz="1800"/>
          </a:p>
        </p:txBody>
      </p:sp>
      <p:sp>
        <p:nvSpPr>
          <p:cNvPr id="42" name="TextBox 41"/>
          <p:cNvSpPr txBox="1"/>
          <p:nvPr/>
        </p:nvSpPr>
        <p:spPr>
          <a:xfrm>
            <a:off x="6583680" y="288036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完成测试，提交答案</a:t>
            </a:r>
            <a:endParaRPr sz="1400"/>
          </a:p>
        </p:txBody>
      </p:sp>
      <p:sp>
        <p:nvSpPr>
          <p:cNvPr id="43" name="Oval 42"/>
          <p:cNvSpPr/>
          <p:nvPr/>
        </p:nvSpPr>
        <p:spPr>
          <a:xfrm>
            <a:off x="10744200" y="251460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4420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1417320"/>
            <a:ext cx="4343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1E8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1527048"/>
            <a:ext cx="4114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8447"/>
                </a:solidFill>
                <a:latin typeface="微软雅黑" panose="020B0503020204020204" charset="-122"/>
              </a:defRPr>
            </a:pPr>
            <a:r>
              <a:rPr sz="1800"/>
              <a:t>学情评估与动态决策 Agent</a:t>
            </a:r>
            <a:endParaRPr sz="1800"/>
          </a:p>
        </p:txBody>
      </p:sp>
      <p:sp>
        <p:nvSpPr>
          <p:cNvPr id="47" name="TextBox 46"/>
          <p:cNvSpPr txBox="1"/>
          <p:nvPr/>
        </p:nvSpPr>
        <p:spPr>
          <a:xfrm>
            <a:off x="6583680" y="1874520"/>
            <a:ext cx="4114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400"/>
              <a:t>更新状态、决策下一阶段</a:t>
            </a:r>
            <a:endParaRPr sz="1400"/>
          </a:p>
        </p:txBody>
      </p:sp>
      <p:sp>
        <p:nvSpPr>
          <p:cNvPr id="48" name="Oval 47"/>
          <p:cNvSpPr/>
          <p:nvPr/>
        </p:nvSpPr>
        <p:spPr>
          <a:xfrm>
            <a:off x="10744200" y="1508760"/>
            <a:ext cx="640080" cy="640080"/>
          </a:xfrm>
          <a:prstGeom prst="ellipse">
            <a:avLst/>
          </a:prstGeom>
          <a:solidFill>
            <a:srgbClr val="1E8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44200" y="1600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50" name="Oval 49"/>
          <p:cNvSpPr/>
          <p:nvPr/>
        </p:nvSpPr>
        <p:spPr>
          <a:xfrm>
            <a:off x="5806440" y="1325880"/>
            <a:ext cx="548640" cy="548640"/>
          </a:xfrm>
          <a:prstGeom prst="ellipse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644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↻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23560" y="5046345"/>
            <a:ext cx="914400" cy="457200"/>
          </a:xfrm>
          <a:prstGeom prst="round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3560" y="511949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回到步骤3 ↺</a:t>
            </a:r>
          </a:p>
        </p:txBody>
      </p:sp>
      <p:sp>
        <p:nvSpPr>
          <p:cNvPr id="58" name="Rectangle 30"/>
          <p:cNvSpPr/>
          <p:nvPr/>
        </p:nvSpPr>
        <p:spPr>
          <a:xfrm>
            <a:off x="640080" y="5641975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31"/>
          <p:cNvSpPr/>
          <p:nvPr/>
        </p:nvSpPr>
        <p:spPr>
          <a:xfrm>
            <a:off x="640080" y="5641975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32"/>
          <p:cNvSpPr txBox="1"/>
          <p:nvPr/>
        </p:nvSpPr>
        <p:spPr>
          <a:xfrm>
            <a:off x="868680" y="568769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1" name="TextBox 33"/>
          <p:cNvSpPr txBox="1"/>
          <p:nvPr/>
        </p:nvSpPr>
        <p:spPr>
          <a:xfrm>
            <a:off x="1280160" y="5737987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闭环覆盖赛题全部要求：学情画像构建 → 多</a:t>
            </a:r>
            <a:r>
              <a:rPr lang="en-US" altLang="zh-CN" sz="1600"/>
              <a:t>Agent</a:t>
            </a:r>
            <a:r>
              <a:rPr lang="zh-CN" altLang="en-US" sz="1600"/>
              <a:t>协同调度 → 个性化生成 → 交互反馈 → 动态决策更新。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03935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知识图谱与阶段规划 | </a:t>
            </a:r>
            <a:r>
              <a:t>15板块 · 73知识点 · 状态驱动选路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9/20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258570"/>
            <a:ext cx="4572000" cy="50292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2578"/>
            <a:ext cx="4572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000"/>
              <a:t>📚 数据底座</a:t>
            </a:r>
            <a:endParaRPr sz="2000"/>
          </a:p>
        </p:txBody>
      </p:sp>
      <p:sp>
        <p:nvSpPr>
          <p:cNvPr id="12" name="Rounded Rectangle 11"/>
          <p:cNvSpPr/>
          <p:nvPr/>
        </p:nvSpPr>
        <p:spPr>
          <a:xfrm>
            <a:off x="640080" y="1809750"/>
            <a:ext cx="4572000" cy="84201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20240"/>
            <a:ext cx="12477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15</a:t>
            </a:r>
            <a:r>
              <a:rPr lang="zh-CN">
                <a:ea typeface="微软雅黑" panose="020B0503020204020204" charset="-122"/>
              </a:rPr>
              <a:t>个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11680" y="1920240"/>
            <a:ext cx="3017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知识板块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148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Linux/PyTorch/NLP/Transformer/LLM/HF/LoRA/QLoRA/vLLM...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734310"/>
            <a:ext cx="4572000" cy="84201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828925"/>
            <a:ext cx="3017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原子知识点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119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可计算的最小学习单元，支持掌握状态追踪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2520"/>
            <a:ext cx="4572000" cy="84201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64915"/>
            <a:ext cx="11887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3</a:t>
            </a:r>
            <a:r>
              <a:rPr lang="zh-CN">
                <a:ea typeface="微软雅黑" panose="020B0503020204020204" charset="-122"/>
              </a:rPr>
              <a:t>类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25015" y="3764915"/>
            <a:ext cx="3017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知识关系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99161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hard_prerequisite硬前置 / recommended推荐前置 / related关联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46930"/>
            <a:ext cx="4572000" cy="1761490"/>
          </a:xfrm>
          <a:prstGeom prst="roundRect">
            <a:avLst/>
          </a:prstGeom>
          <a:solidFill>
            <a:srgbClr val="F8F0E3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38370"/>
            <a:ext cx="42062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400"/>
              <a:t>⚙️ 动态选路机制</a:t>
            </a:r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868680" y="5058410"/>
            <a:ext cx="4114800" cy="123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对目标知识点反向计算硬前置闭包</a:t>
            </a:r>
            <a:endParaRPr sz="1200"/>
          </a:p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已掌握节点跳过，未满足硬前置的节点锁定</a:t>
            </a:r>
            <a:endParaRPr sz="1200"/>
          </a:p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当前阶段只选择已解锁且符合时间预算的知识点</a:t>
            </a:r>
            <a:endParaRPr sz="1200"/>
          </a:p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每阶段结束后根据最新掌握状态重新规划</a:t>
            </a:r>
            <a:endParaRPr sz="1200"/>
          </a:p>
        </p:txBody>
      </p:sp>
      <p:sp>
        <p:nvSpPr>
          <p:cNvPr id="27" name="Rounded Rectangle 26"/>
          <p:cNvSpPr/>
          <p:nvPr/>
        </p:nvSpPr>
        <p:spPr>
          <a:xfrm>
            <a:off x="5577840" y="1258570"/>
            <a:ext cx="594360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0" y="1322578"/>
            <a:ext cx="59436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000"/>
              <a:t>🔗 DAG</a:t>
            </a:r>
            <a:r>
              <a:rPr lang="zh-CN" sz="2000"/>
              <a:t>局部</a:t>
            </a:r>
            <a:r>
              <a:rPr sz="2000"/>
              <a:t>知识路径示例（简化）</a:t>
            </a:r>
            <a:endParaRPr sz="2000"/>
          </a:p>
        </p:txBody>
      </p:sp>
      <p:sp>
        <p:nvSpPr>
          <p:cNvPr id="29" name="Rounded Rectangle 28"/>
          <p:cNvSpPr/>
          <p:nvPr/>
        </p:nvSpPr>
        <p:spPr>
          <a:xfrm>
            <a:off x="6355080" y="1831340"/>
            <a:ext cx="4389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1831340"/>
            <a:ext cx="109728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9502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PyTorch训练循环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837180"/>
            <a:ext cx="4389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2837180"/>
            <a:ext cx="109728" cy="59436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95605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Transformer与LLM基础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35924" y="2454910"/>
            <a:ext cx="27432" cy="338328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43800" y="2514346"/>
            <a:ext cx="201168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43800" y="251434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↓ hard_prerequisite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843020"/>
            <a:ext cx="4389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3843020"/>
            <a:ext cx="109728" cy="5943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96189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HuggingFace工具链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35924" y="3460750"/>
            <a:ext cx="27432" cy="338328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543800" y="3520186"/>
            <a:ext cx="201168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352018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↓ hard_prerequisite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4848860"/>
            <a:ext cx="4389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5080" y="4848860"/>
            <a:ext cx="109728" cy="59436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9677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LoRA / QLoRA微调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35924" y="4466590"/>
            <a:ext cx="27432" cy="338328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35924" y="5472430"/>
            <a:ext cx="27432" cy="338328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43800" y="5531866"/>
            <a:ext cx="201168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43800" y="553186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↓ related / 部署前置</a:t>
            </a:r>
          </a:p>
        </p:txBody>
      </p:sp>
      <p:sp>
        <p:nvSpPr>
          <p:cNvPr id="62" name="TextBox 12"/>
          <p:cNvSpPr txBox="1"/>
          <p:nvPr/>
        </p:nvSpPr>
        <p:spPr>
          <a:xfrm>
            <a:off x="777240" y="2841625"/>
            <a:ext cx="124777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lang="en-US" altLang="zh-CN">
                <a:ea typeface="微软雅黑" panose="020B0503020204020204" charset="-122"/>
              </a:rPr>
              <a:t>73</a:t>
            </a:r>
            <a:r>
              <a:rPr lang="zh-CN">
                <a:ea typeface="微软雅黑" panose="020B0503020204020204" charset="-122"/>
              </a:rPr>
              <a:t>个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543800" y="4526026"/>
            <a:ext cx="2011680" cy="228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452602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↓ hard_prerequisite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55080" y="5854700"/>
            <a:ext cx="43891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5854700"/>
            <a:ext cx="109728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59735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权重合并与vLLM部署</a:t>
            </a:r>
          </a:p>
        </p:txBody>
      </p:sp>
      <p:sp>
        <p:nvSpPr>
          <p:cNvPr id="17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58" name="Rectangle 30"/>
          <p:cNvSpPr/>
          <p:nvPr/>
        </p:nvSpPr>
        <p:spPr>
          <a:xfrm>
            <a:off x="640080" y="5641975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31"/>
          <p:cNvSpPr/>
          <p:nvPr/>
        </p:nvSpPr>
        <p:spPr>
          <a:xfrm>
            <a:off x="640080" y="5641975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32"/>
          <p:cNvSpPr txBox="1"/>
          <p:nvPr/>
        </p:nvSpPr>
        <p:spPr>
          <a:xfrm>
            <a:off x="868680" y="568769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1" name="TextBox 33"/>
          <p:cNvSpPr txBox="1"/>
          <p:nvPr/>
        </p:nvSpPr>
        <p:spPr>
          <a:xfrm>
            <a:off x="1280160" y="5737987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>
                <a:sym typeface="+mn-ea"/>
              </a:rPr>
              <a:t>系统不是按板块序号机械排课，而是根据知识点状态和先修关系动态选路。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/>
      <p:bldP spid="61" grpId="0"/>
      <p:bldP spid="58" grpId="1" animBg="1"/>
      <p:bldP spid="59" grpId="1" animBg="1"/>
      <p:bldP spid="60" grpId="1"/>
      <p:bldP spid="6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代码生成与适配 | </a:t>
            </a:r>
            <a:r>
              <a:t>代码级个性化 · 实训即执行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0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14173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447" y="1417320"/>
            <a:ext cx="73152" cy="11887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149733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🖥️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5262" y="1503045"/>
            <a:ext cx="1600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800"/>
              <a:t>硬件适配</a:t>
            </a:r>
            <a:endParaRPr sz="1800"/>
          </a:p>
        </p:txBody>
      </p:sp>
      <p:sp>
        <p:nvSpPr>
          <p:cNvPr id="14" name="TextBox 13"/>
          <p:cNvSpPr txBox="1"/>
          <p:nvPr/>
        </p:nvSpPr>
        <p:spPr>
          <a:xfrm>
            <a:off x="1415262" y="1868805"/>
            <a:ext cx="16002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根据显存自动调整</a:t>
            </a:r>
            <a:br>
              <a:rPr sz="1200"/>
            </a:br>
            <a:r>
              <a:rPr sz="1200"/>
              <a:t>batch size、量化方式</a:t>
            </a:r>
            <a:endParaRPr sz="1200"/>
          </a:p>
        </p:txBody>
      </p:sp>
      <p:sp>
        <p:nvSpPr>
          <p:cNvPr id="15" name="Rounded Rectangle 14"/>
          <p:cNvSpPr/>
          <p:nvPr/>
        </p:nvSpPr>
        <p:spPr>
          <a:xfrm>
            <a:off x="3398367" y="14173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8367" y="1417320"/>
            <a:ext cx="73152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5527" y="149733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4182" y="1503045"/>
            <a:ext cx="1600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800"/>
              <a:t>框架适配</a:t>
            </a:r>
            <a:endParaRPr sz="1800"/>
          </a:p>
        </p:txBody>
      </p:sp>
      <p:sp>
        <p:nvSpPr>
          <p:cNvPr id="19" name="TextBox 18"/>
          <p:cNvSpPr txBox="1"/>
          <p:nvPr/>
        </p:nvSpPr>
        <p:spPr>
          <a:xfrm>
            <a:off x="4204182" y="1868805"/>
            <a:ext cx="16002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根据熟悉度选择</a:t>
            </a:r>
            <a:br>
              <a:rPr sz="1200"/>
            </a:br>
            <a:r>
              <a:rPr sz="1200"/>
              <a:t>HF Trainer / 自定义循环</a:t>
            </a:r>
            <a:endParaRPr sz="1200"/>
          </a:p>
        </p:txBody>
      </p:sp>
      <p:sp>
        <p:nvSpPr>
          <p:cNvPr id="20" name="Rounded Rectangle 19"/>
          <p:cNvSpPr/>
          <p:nvPr/>
        </p:nvSpPr>
        <p:spPr>
          <a:xfrm>
            <a:off x="6187287" y="14173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7287" y="1417320"/>
            <a:ext cx="73152" cy="11887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7" y="149733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3102" y="1503045"/>
            <a:ext cx="1600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800"/>
              <a:t>任务适配</a:t>
            </a:r>
            <a:endParaRPr sz="1800"/>
          </a:p>
        </p:txBody>
      </p:sp>
      <p:sp>
        <p:nvSpPr>
          <p:cNvPr id="24" name="TextBox 23"/>
          <p:cNvSpPr txBox="1"/>
          <p:nvPr/>
        </p:nvSpPr>
        <p:spPr>
          <a:xfrm>
            <a:off x="6993102" y="1868805"/>
            <a:ext cx="1600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根据目标调整</a:t>
            </a:r>
            <a:br>
              <a:rPr sz="1200"/>
            </a:br>
            <a:r>
              <a:rPr sz="1200"/>
              <a:t>数据加载与格式</a:t>
            </a:r>
            <a:endParaRPr sz="1200"/>
          </a:p>
        </p:txBody>
      </p:sp>
      <p:sp>
        <p:nvSpPr>
          <p:cNvPr id="25" name="Rounded Rectangle 24"/>
          <p:cNvSpPr/>
          <p:nvPr/>
        </p:nvSpPr>
        <p:spPr>
          <a:xfrm>
            <a:off x="8976207" y="1417320"/>
            <a:ext cx="26060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6207" y="1417320"/>
            <a:ext cx="73152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3367" y="149733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2022" y="1503045"/>
            <a:ext cx="1600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800"/>
              <a:t>难度适配</a:t>
            </a:r>
            <a:endParaRPr sz="1800"/>
          </a:p>
        </p:txBody>
      </p:sp>
      <p:sp>
        <p:nvSpPr>
          <p:cNvPr id="29" name="TextBox 28"/>
          <p:cNvSpPr txBox="1"/>
          <p:nvPr/>
        </p:nvSpPr>
        <p:spPr>
          <a:xfrm>
            <a:off x="9782022" y="1868805"/>
            <a:ext cx="16002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零基础提供完整语句</a:t>
            </a:r>
            <a:br>
              <a:rPr sz="1200"/>
            </a:br>
            <a:r>
              <a:rPr sz="1200"/>
              <a:t>有经验者给核心部分</a:t>
            </a:r>
            <a:endParaRPr sz="1200"/>
          </a:p>
        </p:txBody>
      </p:sp>
      <p:sp>
        <p:nvSpPr>
          <p:cNvPr id="30" name="Rounded Rectangle 29"/>
          <p:cNvSpPr/>
          <p:nvPr/>
        </p:nvSpPr>
        <p:spPr>
          <a:xfrm>
            <a:off x="609447" y="278892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447" y="2788920"/>
            <a:ext cx="530352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607" y="2839212"/>
            <a:ext cx="5029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❌ 通用代码（不可直接运行）</a:t>
            </a:r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792327" y="329184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model = AutoModelForCausalLM.from_pretrained("llama")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1E2A3A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900"/>
              </a:spcAft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# 使用 deepspeed 但缺少配置</a:t>
            </a:r>
          </a:p>
          <a:p>
            <a:pPr algn="l">
              <a:spcAft>
                <a:spcPts val="95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deepspeed_config = {...}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8727" y="278892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78727" y="2788920"/>
            <a:ext cx="53035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5887" y="2839212"/>
            <a:ext cx="5029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✅ 个性化适配代码（可直接运行）</a:t>
            </a:r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6461607" y="329184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model = AutoModelForCausalLM.from_pretrained(</a:t>
            </a:r>
          </a:p>
          <a:p>
            <a:pPr algn="l">
              <a:spcAft>
                <a:spcPts val="840"/>
              </a:spcAft>
              <a:defRPr sz="11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    "llama", load_in_4bit=True,</a:t>
            </a:r>
          </a:p>
          <a:p>
            <a:pPr algn="l">
              <a:spcAft>
                <a:spcPts val="84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    device_map="auto")</a:t>
            </a:r>
          </a:p>
          <a:p>
            <a:pPr algn="l">
              <a:spcAft>
                <a:spcPts val="640"/>
              </a:spcAft>
              <a:defRPr sz="600" b="0">
                <a:solidFill>
                  <a:srgbClr val="1E2A3A"/>
                </a:solidFill>
                <a:latin typeface="微软雅黑" panose="020B0503020204020204" charset="-122"/>
              </a:defRPr>
            </a:pPr>
          </a:p>
          <a:p>
            <a:pPr algn="l">
              <a:spcAft>
                <a:spcPts val="800"/>
              </a:spcAft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# 显存优化：gradient_checkpointing</a:t>
            </a:r>
          </a:p>
          <a:p>
            <a:pPr algn="l">
              <a:spcAft>
                <a:spcPts val="840"/>
              </a:spcAft>
              <a:defRPr sz="11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model.gradient_checkpointing_enable()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000625"/>
            <a:ext cx="1078992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4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✅ 完整可运行代码（依赖完整、参数明确）    ✅ 硬件感知的训练/推理配置（batch_size、量化、多卡策略）</a:t>
            </a:r>
            <a:endParaRPr sz="1400"/>
          </a:p>
          <a:p>
            <a:pPr algn="l">
              <a:spcAft>
                <a:spcPts val="84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✅ 错误诊断代码块（常见错误及对应修复）    ✅ 一键启动脚本（含环境检查）</a:t>
            </a:r>
            <a:endParaRPr sz="1400"/>
          </a:p>
        </p:txBody>
      </p:sp>
      <p:sp>
        <p:nvSpPr>
          <p:cNvPr id="58" name="Rectangle 30"/>
          <p:cNvSpPr/>
          <p:nvPr/>
        </p:nvSpPr>
        <p:spPr>
          <a:xfrm>
            <a:off x="640080" y="568071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31"/>
          <p:cNvSpPr/>
          <p:nvPr/>
        </p:nvSpPr>
        <p:spPr>
          <a:xfrm>
            <a:off x="640080" y="568071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32"/>
          <p:cNvSpPr txBox="1"/>
          <p:nvPr/>
        </p:nvSpPr>
        <p:spPr>
          <a:xfrm>
            <a:off x="868680" y="572643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1" name="TextBox 33"/>
          <p:cNvSpPr txBox="1"/>
          <p:nvPr/>
        </p:nvSpPr>
        <p:spPr>
          <a:xfrm>
            <a:off x="1280160" y="577672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系统输出的是可直接运行的实训代码，不仅是伪代码或示意图。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审核辩论机制 | </a:t>
            </a:r>
            <a:r>
              <a:t>不依赖自检 · 独立审核 · 可溯修正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1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467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467" y="1417320"/>
            <a:ext cx="2560320" cy="41148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467" y="1444752"/>
            <a:ext cx="2560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1. 生成</a:t>
            </a:r>
            <a:endParaRPr sz="1800"/>
          </a:p>
        </p:txBody>
      </p:sp>
      <p:sp>
        <p:nvSpPr>
          <p:cNvPr id="13" name="TextBox 12"/>
          <p:cNvSpPr txBox="1"/>
          <p:nvPr/>
        </p:nvSpPr>
        <p:spPr>
          <a:xfrm>
            <a:off x="906627" y="1920240"/>
            <a:ext cx="2286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个性化学习资源生成 Agent</a:t>
            </a:r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906627" y="2446020"/>
            <a:ext cx="22860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生成内容 + 技术Claim</a:t>
            </a:r>
            <a:endParaRPr sz="1200"/>
          </a:p>
        </p:txBody>
      </p:sp>
      <p:sp>
        <p:nvSpPr>
          <p:cNvPr id="15" name="TextBox 14"/>
          <p:cNvSpPr txBox="1"/>
          <p:nvPr/>
        </p:nvSpPr>
        <p:spPr>
          <a:xfrm>
            <a:off x="3348075" y="20802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6947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6947" y="1417320"/>
            <a:ext cx="256032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6947" y="1444752"/>
            <a:ext cx="2560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2. 审核</a:t>
            </a:r>
            <a:endParaRPr sz="1800"/>
          </a:p>
        </p:txBody>
      </p:sp>
      <p:sp>
        <p:nvSpPr>
          <p:cNvPr id="19" name="TextBox 18"/>
          <p:cNvSpPr txBox="1"/>
          <p:nvPr/>
        </p:nvSpPr>
        <p:spPr>
          <a:xfrm>
            <a:off x="3604107" y="1920240"/>
            <a:ext cx="2286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400"/>
              <a:t>专业知识与教学质量审核 Agent</a:t>
            </a:r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3604107" y="2446020"/>
            <a:ext cx="2286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核验Source、代码、规范、教学适配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6045555" y="20802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4427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427" y="1417320"/>
            <a:ext cx="2560320" cy="41148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4427" y="1444752"/>
            <a:ext cx="2560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3. 问题包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6301587" y="1920240"/>
            <a:ext cx="2286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400"/>
              <a:t>结构化Issue Package</a:t>
            </a:r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6301587" y="2257425"/>
            <a:ext cx="2286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问题编号 + 位置 + 证据 + 严重程度</a:t>
            </a:r>
            <a:endParaRPr sz="1200"/>
          </a:p>
        </p:txBody>
      </p:sp>
      <p:sp>
        <p:nvSpPr>
          <p:cNvPr id="27" name="TextBox 26"/>
          <p:cNvSpPr txBox="1"/>
          <p:nvPr/>
        </p:nvSpPr>
        <p:spPr>
          <a:xfrm>
            <a:off x="8743035" y="20802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1907" y="1417320"/>
            <a:ext cx="25603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1907" y="1417320"/>
            <a:ext cx="256032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1907" y="1444752"/>
            <a:ext cx="2560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4. 修订复核</a:t>
            </a:r>
            <a:endParaRPr sz="1800"/>
          </a:p>
        </p:txBody>
      </p:sp>
      <p:sp>
        <p:nvSpPr>
          <p:cNvPr id="31" name="TextBox 30"/>
          <p:cNvSpPr txBox="1"/>
          <p:nvPr/>
        </p:nvSpPr>
        <p:spPr>
          <a:xfrm>
            <a:off x="8999067" y="1920240"/>
            <a:ext cx="2286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400"/>
              <a:t>Agent修订 → Agent复核</a:t>
            </a:r>
            <a:endParaRPr sz="1400"/>
          </a:p>
        </p:txBody>
      </p:sp>
      <p:sp>
        <p:nvSpPr>
          <p:cNvPr id="32" name="TextBox 31"/>
          <p:cNvSpPr txBox="1"/>
          <p:nvPr/>
        </p:nvSpPr>
        <p:spPr>
          <a:xfrm>
            <a:off x="8999067" y="2257425"/>
            <a:ext cx="22860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带version和revision_note，通过/继续/人工</a:t>
            </a:r>
            <a:endParaRPr sz="1200"/>
          </a:p>
        </p:txBody>
      </p:sp>
      <p:sp>
        <p:nvSpPr>
          <p:cNvPr id="33" name="Rounded Rectangle 32"/>
          <p:cNvSpPr/>
          <p:nvPr/>
        </p:nvSpPr>
        <p:spPr>
          <a:xfrm>
            <a:off x="4724400" y="3154680"/>
            <a:ext cx="2743200" cy="456565"/>
          </a:xfrm>
          <a:prstGeom prst="round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4247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↺ 最多3轮修订，超轮次进入 needs_human_review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611880"/>
            <a:ext cx="5486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800"/>
              <a:t>🔑 四个关键对象 · 全链路可追溯</a:t>
            </a:r>
            <a:endParaRPr sz="1800"/>
          </a:p>
        </p:txBody>
      </p:sp>
      <p:sp>
        <p:nvSpPr>
          <p:cNvPr id="36" name="Rounded Rectangle 35"/>
          <p:cNvSpPr/>
          <p:nvPr/>
        </p:nvSpPr>
        <p:spPr>
          <a:xfrm>
            <a:off x="685800" y="4023360"/>
            <a:ext cx="2514600" cy="125603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023360"/>
            <a:ext cx="2514600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160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Source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4187952"/>
            <a:ext cx="731520" cy="27432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4184523"/>
            <a:ext cx="731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可追溯</a:t>
            </a:r>
            <a:endParaRPr sz="1400"/>
          </a:p>
        </p:txBody>
      </p:sp>
      <p:sp>
        <p:nvSpPr>
          <p:cNvPr id="41" name="TextBox 40"/>
          <p:cNvSpPr txBox="1"/>
          <p:nvPr/>
        </p:nvSpPr>
        <p:spPr>
          <a:xfrm>
            <a:off x="868680" y="4572000"/>
            <a:ext cx="21488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知识来源+原文位置</a:t>
            </a:r>
            <a:endParaRPr sz="1400"/>
          </a:p>
        </p:txBody>
      </p:sp>
      <p:sp>
        <p:nvSpPr>
          <p:cNvPr id="42" name="Rounded Rectangle 41"/>
          <p:cNvSpPr/>
          <p:nvPr/>
        </p:nvSpPr>
        <p:spPr>
          <a:xfrm>
            <a:off x="3383280" y="4023360"/>
            <a:ext cx="2514600" cy="125603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4023360"/>
            <a:ext cx="251460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4160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Claim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0" y="4187952"/>
            <a:ext cx="731520" cy="2743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4184523"/>
            <a:ext cx="731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可核验</a:t>
            </a:r>
            <a:endParaRPr sz="1400"/>
          </a:p>
        </p:txBody>
      </p:sp>
      <p:sp>
        <p:nvSpPr>
          <p:cNvPr id="47" name="TextBox 46"/>
          <p:cNvSpPr txBox="1"/>
          <p:nvPr/>
        </p:nvSpPr>
        <p:spPr>
          <a:xfrm>
            <a:off x="3566160" y="4572000"/>
            <a:ext cx="21488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可验证的技术陈述</a:t>
            </a:r>
            <a:endParaRPr sz="1400"/>
          </a:p>
        </p:txBody>
      </p:sp>
      <p:sp>
        <p:nvSpPr>
          <p:cNvPr id="48" name="Rounded Rectangle 47"/>
          <p:cNvSpPr/>
          <p:nvPr/>
        </p:nvSpPr>
        <p:spPr>
          <a:xfrm>
            <a:off x="6080760" y="4023360"/>
            <a:ext cx="2514600" cy="125603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80760" y="4023360"/>
            <a:ext cx="2514600" cy="7315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4160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Issue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26680" y="4187952"/>
            <a:ext cx="731520" cy="27432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80" y="4184523"/>
            <a:ext cx="731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可执行</a:t>
            </a:r>
            <a:endParaRPr sz="1400"/>
          </a:p>
        </p:txBody>
      </p:sp>
      <p:sp>
        <p:nvSpPr>
          <p:cNvPr id="53" name="TextBox 52"/>
          <p:cNvSpPr txBox="1"/>
          <p:nvPr/>
        </p:nvSpPr>
        <p:spPr>
          <a:xfrm>
            <a:off x="6263640" y="4572000"/>
            <a:ext cx="21488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原子错误+证据+严重程度</a:t>
            </a:r>
            <a:endParaRPr sz="1400"/>
          </a:p>
        </p:txBody>
      </p:sp>
      <p:sp>
        <p:nvSpPr>
          <p:cNvPr id="54" name="Rounded Rectangle 53"/>
          <p:cNvSpPr/>
          <p:nvPr/>
        </p:nvSpPr>
        <p:spPr>
          <a:xfrm>
            <a:off x="8778240" y="4023360"/>
            <a:ext cx="2514600" cy="125603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778240" y="4023360"/>
            <a:ext cx="25146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0" y="4160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Trace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424160" y="4187952"/>
            <a:ext cx="73152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24160" y="4184523"/>
            <a:ext cx="7315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可回放</a:t>
            </a:r>
            <a:endParaRPr sz="1400"/>
          </a:p>
        </p:txBody>
      </p:sp>
      <p:sp>
        <p:nvSpPr>
          <p:cNvPr id="59" name="TextBox 58"/>
          <p:cNvSpPr txBox="1"/>
          <p:nvPr/>
        </p:nvSpPr>
        <p:spPr>
          <a:xfrm>
            <a:off x="8961120" y="4572000"/>
            <a:ext cx="21488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初稿到终稿审核轨迹</a:t>
            </a:r>
            <a:endParaRPr sz="1400"/>
          </a:p>
        </p:txBody>
      </p:sp>
      <p:sp>
        <p:nvSpPr>
          <p:cNvPr id="64" name="Rectangle 30"/>
          <p:cNvSpPr/>
          <p:nvPr/>
        </p:nvSpPr>
        <p:spPr>
          <a:xfrm>
            <a:off x="640080" y="557784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31"/>
          <p:cNvSpPr/>
          <p:nvPr/>
        </p:nvSpPr>
        <p:spPr>
          <a:xfrm>
            <a:off x="640080" y="557784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32"/>
          <p:cNvSpPr txBox="1"/>
          <p:nvPr/>
        </p:nvSpPr>
        <p:spPr>
          <a:xfrm>
            <a:off x="86868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7" name="TextBox 33"/>
          <p:cNvSpPr txBox="1"/>
          <p:nvPr/>
        </p:nvSpPr>
        <p:spPr>
          <a:xfrm>
            <a:off x="1280160" y="567385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系统通过独立审核、证据绑定和多轮结构化修正抑制专业知识幻觉。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代码审核机制 | </a:t>
            </a:r>
            <a:r>
              <a:t>代码级审核 · 从语法到规范全链路覆盖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2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4389120" cy="45720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43891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🔍 代码审核五大维度</a:t>
            </a:r>
            <a:endParaRPr sz="1600"/>
          </a:p>
        </p:txBody>
      </p:sp>
      <p:sp>
        <p:nvSpPr>
          <p:cNvPr id="12" name="Rounded Rectangle 11"/>
          <p:cNvSpPr/>
          <p:nvPr>
            <p:custDataLst>
              <p:tags r:id="rId1"/>
            </p:custDataLst>
          </p:nvPr>
        </p:nvSpPr>
        <p:spPr>
          <a:xfrm>
            <a:off x="640080" y="201168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>
            <p:custDataLst>
              <p:tags r:id="rId2"/>
            </p:custDataLst>
          </p:nvPr>
        </p:nvSpPr>
        <p:spPr>
          <a:xfrm>
            <a:off x="640080" y="2011680"/>
            <a:ext cx="73152" cy="71323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822960" y="2103120"/>
            <a:ext cx="14630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600"/>
              <a:t>语法检查</a:t>
            </a:r>
            <a:endParaRPr sz="1600"/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822960" y="2377440"/>
            <a:ext cx="43643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AST解析，捕获语法错误和导入缺失</a:t>
            </a:r>
            <a:endParaRPr sz="1200"/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640080" y="278892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6"/>
            </p:custDataLst>
          </p:nvPr>
        </p:nvSpPr>
        <p:spPr>
          <a:xfrm>
            <a:off x="640080" y="2788920"/>
            <a:ext cx="73152" cy="7132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822960" y="2880360"/>
            <a:ext cx="14630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600"/>
              <a:t>逻辑检查</a:t>
            </a:r>
            <a:endParaRPr sz="1600"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822960" y="3154680"/>
            <a:ext cx="43643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训练循环顺序(zero_grad → backward → step)</a:t>
            </a:r>
            <a:endParaRPr sz="1200"/>
          </a:p>
        </p:txBody>
      </p:sp>
      <p:sp>
        <p:nvSpPr>
          <p:cNvPr id="20" name="Rounded Rectangle 19"/>
          <p:cNvSpPr/>
          <p:nvPr>
            <p:custDataLst>
              <p:tags r:id="rId9"/>
            </p:custDataLst>
          </p:nvPr>
        </p:nvSpPr>
        <p:spPr>
          <a:xfrm>
            <a:off x="640080" y="356616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10"/>
            </p:custDataLst>
          </p:nvPr>
        </p:nvSpPr>
        <p:spPr>
          <a:xfrm>
            <a:off x="640080" y="3566160"/>
            <a:ext cx="73152" cy="7132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822960" y="3657600"/>
            <a:ext cx="14630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600"/>
              <a:t>硬件适配</a:t>
            </a:r>
            <a:endParaRPr sz="1600"/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822960" y="3931920"/>
            <a:ext cx="43643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显存估算，量化策略是否匹配设备</a:t>
            </a:r>
            <a:endParaRPr sz="1200"/>
          </a:p>
        </p:txBody>
      </p:sp>
      <p:sp>
        <p:nvSpPr>
          <p:cNvPr id="24" name="Rounded Rectangle 23"/>
          <p:cNvSpPr/>
          <p:nvPr>
            <p:custDataLst>
              <p:tags r:id="rId13"/>
            </p:custDataLst>
          </p:nvPr>
        </p:nvSpPr>
        <p:spPr>
          <a:xfrm>
            <a:off x="640080" y="434340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7A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14"/>
            </p:custDataLst>
          </p:nvPr>
        </p:nvSpPr>
        <p:spPr>
          <a:xfrm>
            <a:off x="640080" y="4343400"/>
            <a:ext cx="73152" cy="713232"/>
          </a:xfrm>
          <a:prstGeom prst="rect">
            <a:avLst/>
          </a:prstGeom>
          <a:solidFill>
            <a:srgbClr val="7A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5"/>
            </p:custDataLst>
          </p:nvPr>
        </p:nvSpPr>
        <p:spPr>
          <a:xfrm>
            <a:off x="822960" y="4434840"/>
            <a:ext cx="14630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5FCC"/>
                </a:solidFill>
                <a:latin typeface="微软雅黑" panose="020B0503020204020204" charset="-122"/>
              </a:defRPr>
            </a:pPr>
            <a:r>
              <a:rPr sz="1600"/>
              <a:t>版本兼容</a:t>
            </a:r>
            <a:endParaRPr sz="1600"/>
          </a:p>
        </p:txBody>
      </p:sp>
      <p:sp>
        <p:nvSpPr>
          <p:cNvPr id="27" name="TextBox 26"/>
          <p:cNvSpPr txBox="1"/>
          <p:nvPr>
            <p:custDataLst>
              <p:tags r:id="rId16"/>
            </p:custDataLst>
          </p:nvPr>
        </p:nvSpPr>
        <p:spPr>
          <a:xfrm>
            <a:off x="822960" y="4709160"/>
            <a:ext cx="43643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transformers/peft/bitsandbytes版本</a:t>
            </a:r>
            <a:endParaRPr sz="1200"/>
          </a:p>
        </p:txBody>
      </p:sp>
      <p:sp>
        <p:nvSpPr>
          <p:cNvPr id="28" name="Rounded Rectangle 27"/>
          <p:cNvSpPr/>
          <p:nvPr>
            <p:custDataLst>
              <p:tags r:id="rId17"/>
            </p:custDataLst>
          </p:nvPr>
        </p:nvSpPr>
        <p:spPr>
          <a:xfrm>
            <a:off x="640080" y="512064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>
            <p:custDataLst>
              <p:tags r:id="rId18"/>
            </p:custDataLst>
          </p:nvPr>
        </p:nvSpPr>
        <p:spPr>
          <a:xfrm>
            <a:off x="640080" y="5120640"/>
            <a:ext cx="73152" cy="7132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>
            <p:custDataLst>
              <p:tags r:id="rId19"/>
            </p:custDataLst>
          </p:nvPr>
        </p:nvSpPr>
        <p:spPr>
          <a:xfrm>
            <a:off x="822960" y="5212080"/>
            <a:ext cx="14630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600"/>
              <a:t>规范检查</a:t>
            </a:r>
            <a:endParaRPr sz="1600"/>
          </a:p>
        </p:txBody>
      </p:sp>
      <p:sp>
        <p:nvSpPr>
          <p:cNvPr id="31" name="TextBox 30"/>
          <p:cNvSpPr txBox="1"/>
          <p:nvPr>
            <p:custDataLst>
              <p:tags r:id="rId20"/>
            </p:custDataLst>
          </p:nvPr>
        </p:nvSpPr>
        <p:spPr>
          <a:xfrm>
            <a:off x="822960" y="5486400"/>
            <a:ext cx="436435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代码风格、注释完整性、错误处理</a:t>
            </a:r>
            <a:endParaRPr sz="1200"/>
          </a:p>
        </p:txBody>
      </p:sp>
      <p:sp>
        <p:nvSpPr>
          <p:cNvPr id="32" name="Rounded Rectangle 31"/>
          <p:cNvSpPr/>
          <p:nvPr/>
        </p:nvSpPr>
        <p:spPr>
          <a:xfrm>
            <a:off x="5303520" y="1417320"/>
            <a:ext cx="6217920" cy="45720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1481328"/>
            <a:ext cx="6217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💡 真实修正案例：训练循环顺序错误</a:t>
            </a:r>
            <a:endParaRPr sz="1600"/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303520" y="201168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2286000"/>
                <a:gridCol w="196596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❌ 错误初稿（审核拦截）</a:t>
                      </a:r>
                      <a:endParaRPr sz="1600"/>
                    </a:p>
                  </a:txBody>
                  <a:tcPr anchor="ctr">
                    <a:solidFill>
                      <a:srgbClr val="E87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⚠️ 审核发现（绑定证据）</a:t>
                      </a:r>
                      <a:endParaRPr sz="1600"/>
                    </a:p>
                  </a:txBody>
                  <a:tcPr anchor="ctr">
                    <a:solidFill>
                      <a:srgbClr val="E87C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✅ 修订终稿（复核通过）</a:t>
                      </a:r>
                      <a:endParaRPr sz="1600"/>
                    </a:p>
                  </a:txBody>
                  <a:tcPr anchor="ctr">
                    <a:solidFill>
                      <a:srgbClr val="E87C2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loss.backward()</a:t>
                      </a:r>
                      <a:endParaRPr sz="1200"/>
                    </a:p>
                    <a:p>
                      <a:pPr algn="ctr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optimizer.zero_grad()</a:t>
                      </a:r>
                      <a:endParaRPr sz="1200"/>
                    </a:p>
                    <a:p>
                      <a:pPr algn="ctr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optimizer.step()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gradient_flow_error</a:t>
                      </a:r>
                      <a:endParaRPr sz="1200"/>
                    </a:p>
                    <a:p>
                      <a:pPr algn="l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绑定代码位置</a:t>
                      </a:r>
                      <a:endParaRPr sz="1200"/>
                    </a:p>
                    <a:p>
                      <a:pPr algn="l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+ 知识库审核依据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optimizer.zero_grad()</a:t>
                      </a:r>
                      <a:endParaRPr sz="1200"/>
                    </a:p>
                    <a:p>
                      <a:pPr algn="l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loss.backward()</a:t>
                      </a:r>
                      <a:endParaRPr sz="1200"/>
                    </a:p>
                    <a:p>
                      <a:pPr algn="l">
                        <a:defRPr sz="10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optimizer.step()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5303520" y="4160520"/>
            <a:ext cx="621792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4177665"/>
            <a:ext cx="6217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✅ 代码级审核能力清单</a:t>
            </a:r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5486400" y="4617720"/>
            <a:ext cx="5852160" cy="1237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错误代码位置精确定位（行号 + 上下文）</a:t>
            </a:r>
            <a:endParaRPr sz="1200"/>
          </a:p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审核依据可溯源（知识库引用 / 规范条款）</a:t>
            </a:r>
            <a:endParaRPr sz="1200"/>
          </a:p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修订后复核闭环（带content_version和revision_note）</a:t>
            </a:r>
            <a:endParaRPr sz="1200"/>
          </a:p>
          <a:p>
            <a:pPr algn="l">
              <a:spcAft>
                <a:spcPts val="1060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超轮次降级到 needs_human_review，不伪造修复</a:t>
            </a:r>
            <a:endParaRPr sz="1200"/>
          </a:p>
        </p:txBody>
      </p:sp>
      <p:sp>
        <p:nvSpPr>
          <p:cNvPr id="64" name="Rectangle 30"/>
          <p:cNvSpPr/>
          <p:nvPr/>
        </p:nvSpPr>
        <p:spPr>
          <a:xfrm>
            <a:off x="640080" y="5937885"/>
            <a:ext cx="10881360" cy="53022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31"/>
          <p:cNvSpPr/>
          <p:nvPr/>
        </p:nvSpPr>
        <p:spPr>
          <a:xfrm>
            <a:off x="640080" y="5937885"/>
            <a:ext cx="76200" cy="52451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32"/>
          <p:cNvSpPr txBox="1"/>
          <p:nvPr/>
        </p:nvSpPr>
        <p:spPr>
          <a:xfrm>
            <a:off x="868680" y="598360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7" name="TextBox 33"/>
          <p:cNvSpPr txBox="1"/>
          <p:nvPr/>
        </p:nvSpPr>
        <p:spPr>
          <a:xfrm>
            <a:off x="1280160" y="6033897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审核</a:t>
            </a:r>
            <a:r>
              <a:rPr lang="en-US" altLang="zh-CN" sz="1600"/>
              <a:t>Agent</a:t>
            </a:r>
            <a:r>
              <a:rPr lang="zh-CN" altLang="en-US" sz="1600"/>
              <a:t>不是简单「检查是否有错」，而是精确定位错误位置、绑定依据、追踪修正，确保代码可执行。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640080" y="5617845"/>
            <a:ext cx="10881360" cy="822960"/>
          </a:xfrm>
          <a:prstGeom prst="rect">
            <a:avLst/>
          </a:prstGeom>
          <a:solidFill>
            <a:srgbClr val="EBF5FA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63565"/>
            <a:ext cx="4572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400"/>
              <a:t>💾 会话持久化关键数据结构</a:t>
            </a:r>
            <a:endParaRPr sz="1400"/>
          </a:p>
        </p:txBody>
      </p:sp>
      <p:sp>
        <p:nvSpPr>
          <p:cNvPr id="23" name="TextBox 22"/>
          <p:cNvSpPr txBox="1"/>
          <p:nvPr/>
        </p:nvSpPr>
        <p:spPr>
          <a:xfrm>
            <a:off x="777240" y="5913882"/>
            <a:ext cx="106070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sessions：会话基础信息+current_stage  |  user_profiles：画像快照+knowledge_gaps  |  subtopic_status：知识点级掌握状态(-1/0/1)  |  review_traces + review_debate_*：完整审核辩论轨迹  |  qa_history：问答记录，辅助学情评估</a:t>
            </a:r>
            <a:endParaRPr sz="1200"/>
          </a:p>
        </p:txBody>
      </p:sp>
      <p:sp>
        <p:nvSpPr>
          <p:cNvPr id="64" name="Rectangle 30"/>
          <p:cNvSpPr/>
          <p:nvPr/>
        </p:nvSpPr>
        <p:spPr>
          <a:xfrm>
            <a:off x="640080" y="5678805"/>
            <a:ext cx="10881360" cy="7308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Orchestrator | </a:t>
            </a:r>
            <a:r>
              <a:t>状态不丢失 · 流程不断裂 · 异常可回退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3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486400" cy="41148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57325"/>
            <a:ext cx="5486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⚙️ Orchestrator核心职责（代码级实现）</a:t>
            </a:r>
            <a:endParaRPr sz="160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192024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职责</a:t>
                      </a:r>
                      <a:endParaRPr sz="14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实现方式</a:t>
                      </a:r>
                      <a:endParaRPr sz="14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会话状态管理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维护 session_state，支持中断恢复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Agent调用调度</a:t>
                      </a:r>
                      <a:endParaRPr sz="12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统一组装输入/输出契约</a:t>
                      </a:r>
                      <a:endParaRPr sz="12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块级并发生成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首轮最多2块并行，审核并发上限2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审核轮次控制</a:t>
                      </a:r>
                      <a:endParaRPr sz="12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最多3轮，超轮次 needs_human_review</a:t>
                      </a:r>
                      <a:endParaRPr sz="12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三级容错回退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DeepSeek → Ollama → 确定性逻辑</a:t>
                      </a:r>
                      <a:endParaRPr sz="12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状态持久化</a:t>
                      </a:r>
                      <a:endParaRPr sz="12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200"/>
                        <a:t>写入SQLite，支持断点续训</a:t>
                      </a:r>
                      <a:endParaRPr sz="12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0" y="1417320"/>
            <a:ext cx="512064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57325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🔄 状态流转图</a:t>
            </a:r>
            <a:endParaRPr sz="1600"/>
          </a:p>
        </p:txBody>
      </p:sp>
      <p:sp>
        <p:nvSpPr>
          <p:cNvPr id="15" name="Rounded Rectangle 14"/>
          <p:cNvSpPr/>
          <p:nvPr/>
        </p:nvSpPr>
        <p:spPr>
          <a:xfrm>
            <a:off x="6400800" y="1920240"/>
            <a:ext cx="5120640" cy="1299845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754880" cy="1086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Session创建 → 画像构建(Agent1) → 阶段生成(Agent1) → </a:t>
            </a:r>
            <a:endParaRPr sz="1200"/>
          </a:p>
          <a:p>
            <a:pPr algn="l">
              <a:spcAft>
                <a:spcPts val="10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内容生成(Agent3) → 审核(Agent4) → 修订循环(Agent3↔Agent4) → 学习包展示 → 答疑 → 测试 → 评估决策(Agent6) → </a:t>
            </a:r>
            <a:endParaRPr sz="1200"/>
          </a:p>
          <a:p>
            <a:pPr algn="l">
              <a:spcAft>
                <a:spcPts val="10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阶段完成 → 下一阶段(Agent1) → 循环</a:t>
            </a:r>
            <a:endParaRPr sz="1200"/>
          </a:p>
        </p:txBody>
      </p:sp>
      <p:sp>
        <p:nvSpPr>
          <p:cNvPr id="17" name="Rounded Rectangle 16"/>
          <p:cNvSpPr/>
          <p:nvPr/>
        </p:nvSpPr>
        <p:spPr>
          <a:xfrm>
            <a:off x="6400800" y="3326130"/>
            <a:ext cx="5120640" cy="36576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43275"/>
            <a:ext cx="5120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🛡️ 三级容错（代码级实现）</a:t>
            </a:r>
            <a:endParaRPr sz="1600"/>
          </a:p>
        </p:txBody>
      </p:sp>
      <p:sp>
        <p:nvSpPr>
          <p:cNvPr id="19" name="Rounded Rectangle 18"/>
          <p:cNvSpPr/>
          <p:nvPr/>
        </p:nvSpPr>
        <p:spPr>
          <a:xfrm>
            <a:off x="6400800" y="3737610"/>
            <a:ext cx="5120640" cy="1813560"/>
          </a:xfrm>
          <a:prstGeom prst="roundRect">
            <a:avLst/>
          </a:prstGeom>
          <a:solidFill>
            <a:srgbClr val="1E2A3A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783330"/>
            <a:ext cx="4754880" cy="1767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90EE90"/>
                </a:solidFill>
                <a:latin typeface="微软雅黑" panose="020B0503020204020204" charset="-122"/>
              </a:defRPr>
            </a:pPr>
            <a:r>
              <a:t>try: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0EE90"/>
                </a:solidFill>
                <a:latin typeface="微软雅黑" panose="020B0503020204020204" charset="-122"/>
              </a:defRPr>
            </a:pPr>
            <a:r>
              <a:t>    response = deepseek_api.chat(...)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0EE90"/>
                </a:solidFill>
                <a:latin typeface="微软雅黑" panose="020B0503020204020204" charset="-122"/>
              </a:defRPr>
            </a:pPr>
            <a:r>
              <a:t>except (Timeout, RateLimit, APIError):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0EE90"/>
                </a:solidFill>
                <a:latin typeface="微软雅黑" panose="020B0503020204020204" charset="-122"/>
              </a:defRPr>
            </a:pPr>
            <a:r>
              <a:t>    try: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0EE90"/>
                </a:solidFill>
                <a:latin typeface="微软雅黑" panose="020B0503020204020204" charset="-122"/>
              </a:defRPr>
            </a:pPr>
            <a:r>
              <a:t>        response = ollama.chat(...)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0EE90"/>
                </a:solidFill>
                <a:latin typeface="微软雅黑" panose="020B0503020204020204" charset="-122"/>
              </a:defRPr>
            </a:pPr>
            <a:r>
              <a:t>    except:</a:t>
            </a:r>
          </a:p>
          <a:p>
            <a:pPr algn="l">
              <a:spcAft>
                <a:spcPts val="800"/>
              </a:spcAft>
              <a:defRPr sz="1000" b="0">
                <a:solidFill>
                  <a:srgbClr val="90EE90"/>
                </a:solidFill>
                <a:latin typeface="微软雅黑" panose="020B0503020204020204" charset="-122"/>
              </a:defRPr>
            </a:pPr>
            <a:r>
              <a:t>        return deterministic_fallback()</a:t>
            </a:r>
          </a:p>
        </p:txBody>
      </p:sp>
      <p:sp>
        <p:nvSpPr>
          <p:cNvPr id="65" name="Rectangle 31"/>
          <p:cNvSpPr/>
          <p:nvPr/>
        </p:nvSpPr>
        <p:spPr>
          <a:xfrm>
            <a:off x="640080" y="5657850"/>
            <a:ext cx="76200" cy="72326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32"/>
          <p:cNvSpPr txBox="1"/>
          <p:nvPr/>
        </p:nvSpPr>
        <p:spPr>
          <a:xfrm>
            <a:off x="868680" y="570357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7" name="TextBox 33"/>
          <p:cNvSpPr txBox="1"/>
          <p:nvPr/>
        </p:nvSpPr>
        <p:spPr>
          <a:xfrm>
            <a:off x="1372235" y="5752592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en-US" altLang="zh-CN" sz="1600"/>
              <a:t>Orchestrator</a:t>
            </a:r>
            <a:r>
              <a:rPr lang="zh-CN" altLang="en-US" sz="1600"/>
              <a:t>保证多</a:t>
            </a:r>
            <a:r>
              <a:rPr lang="en-US" altLang="zh-CN" sz="1600"/>
              <a:t>Agent</a:t>
            </a:r>
            <a:r>
              <a:rPr lang="zh-CN" altLang="en-US" sz="1600"/>
              <a:t>协同的工程可靠性——会话可恢复、流程可追踪、异常可回退，这是代码实现的核心支撑。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bldLvl="0" animBg="1"/>
      <p:bldP spid="65" grpId="0" animBg="1"/>
      <p:bldP spid="66" grpId="0"/>
      <p:bldP spid="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1063561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动态决策 | </a:t>
            </a:r>
            <a:r>
              <a:t>测试结果+问答历史+行为数据 → 下一阶段策略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第二章 · 系统设计与技术实现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4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" y="1417320"/>
            <a:ext cx="3657600" cy="396748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0847" y="1417320"/>
            <a:ext cx="3657600" cy="54864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27" y="1554480"/>
            <a:ext cx="3291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2000"/>
              <a:t>📥 决策输入</a:t>
            </a:r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09447" y="2179320"/>
            <a:ext cx="3200400" cy="1773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80"/>
              </a:spcAft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阶段测试正确率</a:t>
            </a:r>
            <a:endParaRPr sz="1600"/>
          </a:p>
          <a:p>
            <a:pPr algn="l">
              <a:spcAft>
                <a:spcPts val="880"/>
              </a:spcAft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错题知识点和错误类型</a:t>
            </a:r>
            <a:endParaRPr sz="1600"/>
          </a:p>
          <a:p>
            <a:pPr algn="l">
              <a:spcAft>
                <a:spcPts val="880"/>
              </a:spcAft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用户问答历史</a:t>
            </a:r>
            <a:endParaRPr sz="1600"/>
          </a:p>
          <a:p>
            <a:pPr algn="l">
              <a:spcAft>
                <a:spcPts val="880"/>
              </a:spcAft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学习时长和交互行为</a:t>
            </a:r>
            <a:endParaRPr sz="1600"/>
          </a:p>
          <a:p>
            <a:pPr algn="l">
              <a:spcAft>
                <a:spcPts val="880"/>
              </a:spcAft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600"/>
              <a:t>• 当前画像和子知识点掌握状态</a:t>
            </a:r>
            <a:endParaRPr sz="1600"/>
          </a:p>
        </p:txBody>
      </p:sp>
      <p:sp>
        <p:nvSpPr>
          <p:cNvPr id="14" name="Rectangle 13"/>
          <p:cNvSpPr/>
          <p:nvPr>
            <p:custDataLst>
              <p:tags r:id="rId1"/>
            </p:custDataLst>
          </p:nvPr>
        </p:nvSpPr>
        <p:spPr>
          <a:xfrm>
            <a:off x="4267200" y="1417320"/>
            <a:ext cx="3657600" cy="396748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2"/>
            </p:custDataLst>
          </p:nvPr>
        </p:nvSpPr>
        <p:spPr>
          <a:xfrm>
            <a:off x="4267047" y="1417320"/>
            <a:ext cx="36576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9927" y="1554480"/>
            <a:ext cx="3291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2000"/>
              <a:t>📤 决策输出（6种策略）</a:t>
            </a:r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4495647" y="205740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8" name="Rounded Rectangle 17"/>
          <p:cNvSpPr/>
          <p:nvPr>
            <p:custDataLst>
              <p:tags r:id="rId3"/>
            </p:custDataLst>
          </p:nvPr>
        </p:nvSpPr>
        <p:spPr>
          <a:xfrm>
            <a:off x="4495647" y="2026920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>
            <p:custDataLst>
              <p:tags r:id="rId4"/>
            </p:custDataLst>
          </p:nvPr>
        </p:nvSpPr>
        <p:spPr>
          <a:xfrm>
            <a:off x="4495647" y="2026920"/>
            <a:ext cx="1188720" cy="45720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5"/>
            </p:custDataLst>
          </p:nvPr>
        </p:nvSpPr>
        <p:spPr>
          <a:xfrm>
            <a:off x="4495647" y="2118360"/>
            <a:ext cx="1188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simplify</a:t>
            </a:r>
            <a:endParaRPr sz="1400"/>
          </a:p>
        </p:txBody>
      </p:sp>
      <p:sp>
        <p:nvSpPr>
          <p:cNvPr id="21" name="TextBox 20"/>
          <p:cNvSpPr txBox="1"/>
          <p:nvPr>
            <p:custDataLst>
              <p:tags r:id="rId6"/>
            </p:custDataLst>
          </p:nvPr>
        </p:nvSpPr>
        <p:spPr>
          <a:xfrm>
            <a:off x="5821527" y="2098548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降维解释</a:t>
            </a:r>
            <a:endParaRPr sz="1400"/>
          </a:p>
        </p:txBody>
      </p:sp>
      <p:sp>
        <p:nvSpPr>
          <p:cNvPr id="22" name="Rounded Rectangle 21"/>
          <p:cNvSpPr/>
          <p:nvPr>
            <p:custDataLst>
              <p:tags r:id="rId7"/>
            </p:custDataLst>
          </p:nvPr>
        </p:nvSpPr>
        <p:spPr>
          <a:xfrm>
            <a:off x="4495647" y="2557272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>
            <p:custDataLst>
              <p:tags r:id="rId8"/>
            </p:custDataLst>
          </p:nvPr>
        </p:nvSpPr>
        <p:spPr>
          <a:xfrm>
            <a:off x="4495647" y="2557272"/>
            <a:ext cx="118872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>
            <p:custDataLst>
              <p:tags r:id="rId9"/>
            </p:custDataLst>
          </p:nvPr>
        </p:nvSpPr>
        <p:spPr>
          <a:xfrm>
            <a:off x="4495647" y="2648712"/>
            <a:ext cx="1188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reinforce</a:t>
            </a:r>
            <a:endParaRPr sz="1400"/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5821527" y="2628900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400"/>
              <a:t>巩固练习</a:t>
            </a:r>
            <a:endParaRPr sz="1400"/>
          </a:p>
        </p:txBody>
      </p:sp>
      <p:sp>
        <p:nvSpPr>
          <p:cNvPr id="26" name="Rounded Rectangle 25"/>
          <p:cNvSpPr/>
          <p:nvPr>
            <p:custDataLst>
              <p:tags r:id="rId11"/>
            </p:custDataLst>
          </p:nvPr>
        </p:nvSpPr>
        <p:spPr>
          <a:xfrm>
            <a:off x="4495647" y="3087624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>
            <p:custDataLst>
              <p:tags r:id="rId12"/>
            </p:custDataLst>
          </p:nvPr>
        </p:nvSpPr>
        <p:spPr>
          <a:xfrm>
            <a:off x="4495647" y="3087624"/>
            <a:ext cx="118872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13"/>
            </p:custDataLst>
          </p:nvPr>
        </p:nvSpPr>
        <p:spPr>
          <a:xfrm>
            <a:off x="4495647" y="3179064"/>
            <a:ext cx="1188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advance</a:t>
            </a:r>
            <a:endParaRPr sz="1400"/>
          </a:p>
        </p:txBody>
      </p:sp>
      <p:sp>
        <p:nvSpPr>
          <p:cNvPr id="29" name="TextBox 28"/>
          <p:cNvSpPr txBox="1"/>
          <p:nvPr>
            <p:custDataLst>
              <p:tags r:id="rId14"/>
            </p:custDataLst>
          </p:nvPr>
        </p:nvSpPr>
        <p:spPr>
          <a:xfrm>
            <a:off x="5821527" y="3159252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400"/>
              <a:t>正常推进</a:t>
            </a:r>
            <a:endParaRPr sz="1400"/>
          </a:p>
        </p:txBody>
      </p:sp>
      <p:sp>
        <p:nvSpPr>
          <p:cNvPr id="30" name="Rounded Rectangle 29"/>
          <p:cNvSpPr/>
          <p:nvPr>
            <p:custDataLst>
              <p:tags r:id="rId15"/>
            </p:custDataLst>
          </p:nvPr>
        </p:nvSpPr>
        <p:spPr>
          <a:xfrm>
            <a:off x="4495647" y="3617976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>
            <p:custDataLst>
              <p:tags r:id="rId16"/>
            </p:custDataLst>
          </p:nvPr>
        </p:nvSpPr>
        <p:spPr>
          <a:xfrm>
            <a:off x="4495647" y="3617976"/>
            <a:ext cx="1188720" cy="4572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17"/>
            </p:custDataLst>
          </p:nvPr>
        </p:nvSpPr>
        <p:spPr>
          <a:xfrm>
            <a:off x="4495647" y="3709416"/>
            <a:ext cx="1188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backtrack</a:t>
            </a:r>
            <a:endParaRPr sz="1400"/>
          </a:p>
        </p:txBody>
      </p:sp>
      <p:sp>
        <p:nvSpPr>
          <p:cNvPr id="33" name="TextBox 32"/>
          <p:cNvSpPr txBox="1"/>
          <p:nvPr>
            <p:custDataLst>
              <p:tags r:id="rId18"/>
            </p:custDataLst>
          </p:nvPr>
        </p:nvSpPr>
        <p:spPr>
          <a:xfrm>
            <a:off x="5821527" y="3689604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sz="1400"/>
              <a:t>回补前置</a:t>
            </a:r>
            <a:endParaRPr sz="1400"/>
          </a:p>
        </p:txBody>
      </p:sp>
      <p:sp>
        <p:nvSpPr>
          <p:cNvPr id="34" name="Rounded Rectangle 33"/>
          <p:cNvSpPr/>
          <p:nvPr>
            <p:custDataLst>
              <p:tags r:id="rId19"/>
            </p:custDataLst>
          </p:nvPr>
        </p:nvSpPr>
        <p:spPr>
          <a:xfrm>
            <a:off x="4495647" y="4148328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>
            <p:custDataLst>
              <p:tags r:id="rId20"/>
            </p:custDataLst>
          </p:nvPr>
        </p:nvSpPr>
        <p:spPr>
          <a:xfrm>
            <a:off x="4495647" y="4148328"/>
            <a:ext cx="1188720" cy="45720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>
            <p:custDataLst>
              <p:tags r:id="rId21"/>
            </p:custDataLst>
          </p:nvPr>
        </p:nvSpPr>
        <p:spPr>
          <a:xfrm>
            <a:off x="4495647" y="4239768"/>
            <a:ext cx="1188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challenge</a:t>
            </a:r>
            <a:endParaRPr sz="1400"/>
          </a:p>
        </p:txBody>
      </p:sp>
      <p:sp>
        <p:nvSpPr>
          <p:cNvPr id="37" name="TextBox 36"/>
          <p:cNvSpPr txBox="1"/>
          <p:nvPr>
            <p:custDataLst>
              <p:tags r:id="rId22"/>
            </p:custDataLst>
          </p:nvPr>
        </p:nvSpPr>
        <p:spPr>
          <a:xfrm>
            <a:off x="5821527" y="4219956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400"/>
              <a:t>进阶挑战</a:t>
            </a:r>
            <a:endParaRPr sz="1400"/>
          </a:p>
        </p:txBody>
      </p:sp>
      <p:sp>
        <p:nvSpPr>
          <p:cNvPr id="38" name="Rounded Rectangle 37"/>
          <p:cNvSpPr/>
          <p:nvPr>
            <p:custDataLst>
              <p:tags r:id="rId23"/>
            </p:custDataLst>
          </p:nvPr>
        </p:nvSpPr>
        <p:spPr>
          <a:xfrm>
            <a:off x="4495647" y="4678680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7A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>
            <p:custDataLst>
              <p:tags r:id="rId24"/>
            </p:custDataLst>
          </p:nvPr>
        </p:nvSpPr>
        <p:spPr>
          <a:xfrm>
            <a:off x="4495647" y="4678680"/>
            <a:ext cx="1188720" cy="457200"/>
          </a:xfrm>
          <a:prstGeom prst="roundRect">
            <a:avLst/>
          </a:prstGeom>
          <a:solidFill>
            <a:srgbClr val="7A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>
            <p:custDataLst>
              <p:tags r:id="rId25"/>
            </p:custDataLst>
          </p:nvPr>
        </p:nvSpPr>
        <p:spPr>
          <a:xfrm>
            <a:off x="4495647" y="4770120"/>
            <a:ext cx="11887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400"/>
              <a:t>finish</a:t>
            </a:r>
            <a:endParaRPr sz="1400"/>
          </a:p>
        </p:txBody>
      </p:sp>
      <p:sp>
        <p:nvSpPr>
          <p:cNvPr id="41" name="TextBox 40"/>
          <p:cNvSpPr txBox="1"/>
          <p:nvPr>
            <p:custDataLst>
              <p:tags r:id="rId26"/>
            </p:custDataLst>
          </p:nvPr>
        </p:nvSpPr>
        <p:spPr>
          <a:xfrm>
            <a:off x="5821527" y="4750308"/>
            <a:ext cx="18288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5FCC"/>
                </a:solidFill>
                <a:latin typeface="微软雅黑" panose="020B0503020204020204" charset="-122"/>
              </a:defRPr>
            </a:pPr>
            <a:r>
              <a:rPr sz="1400"/>
              <a:t>完成学习</a:t>
            </a:r>
            <a:endParaRPr sz="1400"/>
          </a:p>
        </p:txBody>
      </p:sp>
      <p:sp>
        <p:nvSpPr>
          <p:cNvPr id="42" name="Rectangle 41"/>
          <p:cNvSpPr/>
          <p:nvPr/>
        </p:nvSpPr>
        <p:spPr>
          <a:xfrm>
            <a:off x="8153400" y="1417320"/>
            <a:ext cx="3657600" cy="3967480"/>
          </a:xfrm>
          <a:prstGeom prst="rect">
            <a:avLst/>
          </a:prstGeom>
          <a:solidFill>
            <a:srgbClr val="FFFFFF"/>
          </a:solidFill>
          <a:ln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53247" y="1417320"/>
            <a:ext cx="3657600" cy="54864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6127" y="1554480"/>
            <a:ext cx="32918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2000"/>
              <a:t>💡 典型决策案例</a:t>
            </a:r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8381847" y="205740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336280" y="2194560"/>
            <a:ext cx="3291840" cy="115125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27567" y="2286000"/>
            <a:ext cx="3108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400"/>
              <a:t>输入场景：</a:t>
            </a:r>
            <a:endParaRPr sz="1400"/>
          </a:p>
        </p:txBody>
      </p:sp>
      <p:sp>
        <p:nvSpPr>
          <p:cNvPr id="48" name="TextBox 47"/>
          <p:cNvSpPr txBox="1"/>
          <p:nvPr/>
        </p:nvSpPr>
        <p:spPr>
          <a:xfrm>
            <a:off x="8427567" y="2560320"/>
            <a:ext cx="310896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用户在量化配置和显存估算题目上连续出错，问答记录显示对4-bit量化理解不足</a:t>
            </a:r>
            <a:endParaRPr sz="1400"/>
          </a:p>
        </p:txBody>
      </p:sp>
      <p:sp>
        <p:nvSpPr>
          <p:cNvPr id="49" name="TextBox 48"/>
          <p:cNvSpPr txBox="1"/>
          <p:nvPr/>
        </p:nvSpPr>
        <p:spPr>
          <a:xfrm>
            <a:off x="2147483647" y="349300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36280" y="3619500"/>
            <a:ext cx="3291840" cy="1339850"/>
          </a:xfrm>
          <a:prstGeom prst="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27567" y="3710940"/>
            <a:ext cx="31089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400"/>
              <a:t>系统决策：</a:t>
            </a:r>
            <a:endParaRPr sz="1400"/>
          </a:p>
        </p:txBody>
      </p:sp>
      <p:sp>
        <p:nvSpPr>
          <p:cNvPr id="52" name="TextBox 51"/>
          <p:cNvSpPr txBox="1"/>
          <p:nvPr/>
        </p:nvSpPr>
        <p:spPr>
          <a:xfrm>
            <a:off x="8427567" y="3985260"/>
            <a:ext cx="310896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不直接推进到vLLM部署，而是生成降维解释内容 + 量化概念巩固任务，确保理解后再推进</a:t>
            </a:r>
            <a:endParaRPr sz="1400"/>
          </a:p>
        </p:txBody>
      </p:sp>
      <p:sp>
        <p:nvSpPr>
          <p:cNvPr id="58" name="Rectangle 30"/>
          <p:cNvSpPr/>
          <p:nvPr/>
        </p:nvSpPr>
        <p:spPr>
          <a:xfrm>
            <a:off x="640080" y="568071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31"/>
          <p:cNvSpPr/>
          <p:nvPr/>
        </p:nvSpPr>
        <p:spPr>
          <a:xfrm>
            <a:off x="640080" y="568071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32"/>
          <p:cNvSpPr txBox="1"/>
          <p:nvPr/>
        </p:nvSpPr>
        <p:spPr>
          <a:xfrm>
            <a:off x="868680" y="572643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1" name="TextBox 33"/>
          <p:cNvSpPr txBox="1"/>
          <p:nvPr/>
        </p:nvSpPr>
        <p:spPr>
          <a:xfrm>
            <a:off x="1280160" y="577672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学习路线由学习结果动态驱动，而非预先写死的课程表。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椭圆 38"/>
          <p:cNvSpPr/>
          <p:nvPr/>
        </p:nvSpPr>
        <p:spPr>
          <a:xfrm>
            <a:off x="1207770" y="1663700"/>
            <a:ext cx="3325495" cy="3310890"/>
          </a:xfrm>
          <a:prstGeom prst="ellipse">
            <a:avLst/>
          </a:prstGeom>
          <a:solidFill>
            <a:srgbClr val="2E86A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38" name="椭圆 37"/>
          <p:cNvSpPr/>
          <p:nvPr/>
        </p:nvSpPr>
        <p:spPr>
          <a:xfrm>
            <a:off x="991235" y="1931035"/>
            <a:ext cx="3325495" cy="3310890"/>
          </a:xfrm>
          <a:prstGeom prst="ellipse">
            <a:avLst/>
          </a:prstGeom>
          <a:solidFill>
            <a:srgbClr val="E87C2A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1080135" y="1773555"/>
            <a:ext cx="3325495" cy="3310890"/>
          </a:xfrm>
          <a:prstGeom prst="ellipse">
            <a:avLst/>
          </a:prstGeom>
          <a:solidFill>
            <a:srgbClr val="1A3A6C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882775" y="2684145"/>
            <a:ext cx="1720215" cy="148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9600">
                <a:solidFill>
                  <a:schemeClr val="bg1"/>
                </a:solidFill>
                <a:sym typeface="+mn-ea"/>
              </a:rPr>
              <a:t>0</a:t>
            </a:r>
            <a:r>
              <a:rPr lang="en-US" sz="9600">
                <a:solidFill>
                  <a:schemeClr val="bg1"/>
                </a:solidFill>
                <a:sym typeface="+mn-ea"/>
              </a:rPr>
              <a:t>3</a:t>
            </a:r>
            <a:endParaRPr lang="en-US" sz="9600">
              <a:solidFill>
                <a:schemeClr val="bg1"/>
              </a:solidFill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63795" y="3013710"/>
            <a:ext cx="59918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solidFill>
                  <a:srgbClr val="1A3A6C"/>
                </a:solidFill>
                <a:latin typeface="+mn-ea"/>
              </a:rPr>
              <a:t>效果与价值</a:t>
            </a:r>
            <a:endParaRPr lang="zh-CN" altLang="en-US" sz="4800" b="1">
              <a:solidFill>
                <a:srgbClr val="1A3A6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测试体系 | </a:t>
            </a:r>
            <a:r>
              <a:t>五层测试 · 验证有效性与可靠性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第三章 · 效果与价值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5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295400"/>
          <a:ext cx="1085278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1730"/>
                <a:gridCol w="2153285"/>
                <a:gridCol w="628777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800"/>
                        <a:t>测试类型</a:t>
                      </a:r>
                      <a:endParaRPr sz="18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800"/>
                        <a:t>规模</a:t>
                      </a:r>
                      <a:endParaRPr sz="18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800"/>
                        <a:t>验证目标</a:t>
                      </a:r>
                      <a:endParaRPr sz="18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四组完整案例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4 组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差异化学习者的端到端闭环验证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个性化主评测</a:t>
                      </a:r>
                      <a:endParaRPr sz="16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50 组</a:t>
                      </a:r>
                      <a:endParaRPr sz="16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画像生成、资源匹配和路径适配正确性</a:t>
                      </a:r>
                      <a:endParaRPr sz="16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多Agent消融测试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15×4 = 60 条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各Agent和协同机制的独立贡献度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回退可靠性测试</a:t>
                      </a:r>
                      <a:endParaRPr sz="16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12 组</a:t>
                      </a:r>
                      <a:endParaRPr sz="16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模型故障时自动回退和状态连续性</a:t>
                      </a:r>
                      <a:endParaRPr sz="16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模型可替换性测试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12×2 = 24 条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系统不绑定单一底层模型</a:t>
                      </a:r>
                      <a:endParaRPr sz="16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" y="4404360"/>
            <a:ext cx="107899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47032"/>
            <a:ext cx="10789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🎯 50组主评测覆盖 7 个核心维度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778611" y="490728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611" y="4907280"/>
            <a:ext cx="1417320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611" y="5044440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LoRA/QLoRA</a:t>
            </a:r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778611" y="5346192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适配</a:t>
            </a:r>
            <a:endParaRPr sz="1400"/>
          </a:p>
        </p:txBody>
      </p:sp>
      <p:sp>
        <p:nvSpPr>
          <p:cNvPr id="17" name="Rounded Rectangle 16"/>
          <p:cNvSpPr/>
          <p:nvPr/>
        </p:nvSpPr>
        <p:spPr>
          <a:xfrm>
            <a:off x="2314803" y="490728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C3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4803" y="4907280"/>
            <a:ext cx="1417320" cy="73152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14803" y="5044440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6B"/>
                </a:solidFill>
                <a:latin typeface="微软雅黑" panose="020B0503020204020204" charset="-122"/>
              </a:defRPr>
            </a:pPr>
            <a:r>
              <a:rPr sz="1400"/>
              <a:t>vLLM部署</a:t>
            </a:r>
            <a:endParaRPr sz="1400"/>
          </a:p>
        </p:txBody>
      </p:sp>
      <p:sp>
        <p:nvSpPr>
          <p:cNvPr id="20" name="TextBox 19"/>
          <p:cNvSpPr txBox="1"/>
          <p:nvPr/>
        </p:nvSpPr>
        <p:spPr>
          <a:xfrm>
            <a:off x="2314803" y="5346192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6B"/>
                </a:solidFill>
                <a:latin typeface="微软雅黑" panose="020B0503020204020204" charset="-122"/>
              </a:defRPr>
            </a:pPr>
            <a:r>
              <a:rPr sz="1400"/>
              <a:t>适配</a:t>
            </a:r>
            <a:endParaRPr sz="1400"/>
          </a:p>
        </p:txBody>
      </p:sp>
      <p:sp>
        <p:nvSpPr>
          <p:cNvPr id="21" name="Rounded Rectangle 20"/>
          <p:cNvSpPr/>
          <p:nvPr/>
        </p:nvSpPr>
        <p:spPr>
          <a:xfrm>
            <a:off x="3850995" y="490728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50995" y="4907280"/>
            <a:ext cx="1417320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0995" y="5044440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400"/>
              <a:t>学情诊断</a:t>
            </a:r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3850995" y="5346192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400"/>
              <a:t>前置补全</a:t>
            </a:r>
            <a:endParaRPr sz="1400"/>
          </a:p>
        </p:txBody>
      </p:sp>
      <p:sp>
        <p:nvSpPr>
          <p:cNvPr id="25" name="Rounded Rectangle 24"/>
          <p:cNvSpPr/>
          <p:nvPr/>
        </p:nvSpPr>
        <p:spPr>
          <a:xfrm>
            <a:off x="5387187" y="490728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E7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87187" y="4907280"/>
            <a:ext cx="1417320" cy="73152"/>
          </a:xfrm>
          <a:prstGeom prst="rect">
            <a:avLst/>
          </a:prstGeom>
          <a:solidFill>
            <a:srgbClr val="2E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87187" y="5044440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A9E"/>
                </a:solidFill>
                <a:latin typeface="微软雅黑" panose="020B0503020204020204" charset="-122"/>
              </a:defRPr>
            </a:pPr>
            <a:r>
              <a:rPr sz="1400"/>
              <a:t>已掌握</a:t>
            </a:r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5387187" y="5346192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7A9E"/>
                </a:solidFill>
                <a:latin typeface="微软雅黑" panose="020B0503020204020204" charset="-122"/>
              </a:defRPr>
            </a:pPr>
            <a:r>
              <a:rPr sz="1400"/>
              <a:t>知识跳过</a:t>
            </a:r>
            <a:endParaRPr sz="1400"/>
          </a:p>
        </p:txBody>
      </p:sp>
      <p:sp>
        <p:nvSpPr>
          <p:cNvPr id="29" name="Rounded Rectangle 28"/>
          <p:cNvSpPr/>
          <p:nvPr/>
        </p:nvSpPr>
        <p:spPr>
          <a:xfrm>
            <a:off x="6923379" y="490728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3379" y="4907280"/>
            <a:ext cx="1417320" cy="7315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23379" y="5044440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400"/>
              <a:t>异常边界</a:t>
            </a:r>
            <a:endParaRPr sz="1400"/>
          </a:p>
        </p:txBody>
      </p:sp>
      <p:sp>
        <p:nvSpPr>
          <p:cNvPr id="32" name="TextBox 31"/>
          <p:cNvSpPr txBox="1"/>
          <p:nvPr/>
        </p:nvSpPr>
        <p:spPr>
          <a:xfrm>
            <a:off x="6923379" y="5346192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400"/>
              <a:t>输入处理</a:t>
            </a:r>
            <a:endParaRPr sz="1400"/>
          </a:p>
        </p:txBody>
      </p:sp>
      <p:sp>
        <p:nvSpPr>
          <p:cNvPr id="33" name="Rounded Rectangle 32"/>
          <p:cNvSpPr/>
          <p:nvPr/>
        </p:nvSpPr>
        <p:spPr>
          <a:xfrm>
            <a:off x="8459571" y="490728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59571" y="4907280"/>
            <a:ext cx="141732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9571" y="5044440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sz="1400"/>
              <a:t>时间风格</a:t>
            </a:r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8459571" y="5346192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sz="1400"/>
              <a:t>适配</a:t>
            </a:r>
            <a:endParaRPr sz="1400"/>
          </a:p>
        </p:txBody>
      </p:sp>
      <p:sp>
        <p:nvSpPr>
          <p:cNvPr id="37" name="Rounded Rectangle 36"/>
          <p:cNvSpPr/>
          <p:nvPr/>
        </p:nvSpPr>
        <p:spPr>
          <a:xfrm>
            <a:off x="9995763" y="490728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95763" y="4907280"/>
            <a:ext cx="141732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95763" y="5044440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400"/>
              <a:t>测试反馈</a:t>
            </a:r>
            <a:endParaRPr sz="1400"/>
          </a:p>
        </p:txBody>
      </p:sp>
      <p:sp>
        <p:nvSpPr>
          <p:cNvPr id="40" name="TextBox 39"/>
          <p:cNvSpPr txBox="1"/>
          <p:nvPr/>
        </p:nvSpPr>
        <p:spPr>
          <a:xfrm>
            <a:off x="9995763" y="5346192"/>
            <a:ext cx="14173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400"/>
              <a:t>路径调整</a:t>
            </a:r>
            <a:endParaRPr sz="1400"/>
          </a:p>
        </p:txBody>
      </p:sp>
      <p:sp>
        <p:nvSpPr>
          <p:cNvPr id="58" name="Rectangle 30"/>
          <p:cNvSpPr/>
          <p:nvPr/>
        </p:nvSpPr>
        <p:spPr>
          <a:xfrm>
            <a:off x="640080" y="577215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31"/>
          <p:cNvSpPr/>
          <p:nvPr/>
        </p:nvSpPr>
        <p:spPr>
          <a:xfrm>
            <a:off x="640080" y="577215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32"/>
          <p:cNvSpPr txBox="1"/>
          <p:nvPr/>
        </p:nvSpPr>
        <p:spPr>
          <a:xfrm>
            <a:off x="868680" y="581787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61" name="TextBox 33"/>
          <p:cNvSpPr txBox="1"/>
          <p:nvPr/>
        </p:nvSpPr>
        <p:spPr>
          <a:xfrm>
            <a:off x="1280160" y="5868162"/>
            <a:ext cx="100584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测试不仅验证系统「能运行」，还验证「为什么有效」和「故障时能否继续运行」。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核心量化结果 | </a:t>
            </a:r>
            <a:r>
              <a:t>三项核心指标全部达标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第三章 · 效果与价值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6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867" y="136017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867" y="1360170"/>
            <a:ext cx="91440" cy="205740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467" y="149733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画像—资源难度</a:t>
            </a:r>
            <a:endParaRPr sz="1800"/>
          </a:p>
        </p:txBody>
      </p:sp>
      <p:sp>
        <p:nvSpPr>
          <p:cNvPr id="13" name="TextBox 12"/>
          <p:cNvSpPr txBox="1"/>
          <p:nvPr/>
        </p:nvSpPr>
        <p:spPr>
          <a:xfrm>
            <a:off x="769467" y="177165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适配准确率</a:t>
            </a:r>
            <a:endParaRPr sz="1800"/>
          </a:p>
        </p:txBody>
      </p:sp>
      <p:sp>
        <p:nvSpPr>
          <p:cNvPr id="14" name="TextBox 13"/>
          <p:cNvSpPr txBox="1"/>
          <p:nvPr/>
        </p:nvSpPr>
        <p:spPr>
          <a:xfrm>
            <a:off x="769467" y="209169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93.9%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1147" y="2137410"/>
            <a:ext cx="109728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1147" y="216484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目标: ≥ 85%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1147" y="2548890"/>
            <a:ext cx="109728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1147" y="259461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达标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5627" y="136017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5627" y="1360170"/>
            <a:ext cx="91440" cy="2057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4227" y="149733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任务核心知识点</a:t>
            </a:r>
            <a:endParaRPr sz="1800"/>
          </a:p>
        </p:txBody>
      </p:sp>
      <p:sp>
        <p:nvSpPr>
          <p:cNvPr id="22" name="TextBox 21"/>
          <p:cNvSpPr txBox="1"/>
          <p:nvPr/>
        </p:nvSpPr>
        <p:spPr>
          <a:xfrm>
            <a:off x="4564227" y="177165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覆盖率</a:t>
            </a:r>
            <a:endParaRPr sz="1800"/>
          </a:p>
        </p:txBody>
      </p:sp>
      <p:sp>
        <p:nvSpPr>
          <p:cNvPr id="23" name="TextBox 22"/>
          <p:cNvSpPr txBox="1"/>
          <p:nvPr/>
        </p:nvSpPr>
        <p:spPr>
          <a:xfrm>
            <a:off x="4564227" y="209169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94.3%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75907" y="2137410"/>
            <a:ext cx="109728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5907" y="216484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目标: ≥ 90%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5907" y="2548890"/>
            <a:ext cx="109728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5907" y="259461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达标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0387" y="136017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0387" y="1360170"/>
            <a:ext cx="91440" cy="20574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8987" y="149733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最终专业知识</a:t>
            </a:r>
            <a:endParaRPr sz="1800"/>
          </a:p>
        </p:txBody>
      </p:sp>
      <p:sp>
        <p:nvSpPr>
          <p:cNvPr id="31" name="TextBox 30"/>
          <p:cNvSpPr txBox="1"/>
          <p:nvPr/>
        </p:nvSpPr>
        <p:spPr>
          <a:xfrm>
            <a:off x="8358987" y="177165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谬误率</a:t>
            </a:r>
            <a:endParaRPr sz="1800"/>
          </a:p>
        </p:txBody>
      </p:sp>
      <p:sp>
        <p:nvSpPr>
          <p:cNvPr id="32" name="TextBox 31"/>
          <p:cNvSpPr txBox="1"/>
          <p:nvPr/>
        </p:nvSpPr>
        <p:spPr>
          <a:xfrm>
            <a:off x="8358987" y="209169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2.17%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70667" y="2137410"/>
            <a:ext cx="109728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70667" y="216484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目标: &lt; 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70667" y="2548890"/>
            <a:ext cx="109728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0667" y="259461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✓ 达标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0867" y="364617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0867" y="3646170"/>
            <a:ext cx="91440" cy="205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467" y="378333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策略选择</a:t>
            </a:r>
            <a:endParaRPr sz="1800"/>
          </a:p>
        </p:txBody>
      </p:sp>
      <p:sp>
        <p:nvSpPr>
          <p:cNvPr id="40" name="TextBox 39"/>
          <p:cNvSpPr txBox="1"/>
          <p:nvPr/>
        </p:nvSpPr>
        <p:spPr>
          <a:xfrm>
            <a:off x="769467" y="405765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准确率</a:t>
            </a:r>
            <a:endParaRPr sz="1800"/>
          </a:p>
        </p:txBody>
      </p:sp>
      <p:sp>
        <p:nvSpPr>
          <p:cNvPr id="41" name="TextBox 40"/>
          <p:cNvSpPr txBox="1"/>
          <p:nvPr/>
        </p:nvSpPr>
        <p:spPr>
          <a:xfrm>
            <a:off x="769467" y="437769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98.0%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1147" y="4423410"/>
            <a:ext cx="109728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81147" y="445084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目标: 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81147" y="4834890"/>
            <a:ext cx="109728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1147" y="488061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优异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5627" y="364617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7A5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5627" y="3646170"/>
            <a:ext cx="91440" cy="2057400"/>
          </a:xfrm>
          <a:prstGeom prst="rect">
            <a:avLst/>
          </a:prstGeom>
          <a:solidFill>
            <a:srgbClr val="7A5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64227" y="378333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完整流程</a:t>
            </a:r>
            <a:endParaRPr sz="1800"/>
          </a:p>
        </p:txBody>
      </p:sp>
      <p:sp>
        <p:nvSpPr>
          <p:cNvPr id="49" name="TextBox 48"/>
          <p:cNvSpPr txBox="1"/>
          <p:nvPr/>
        </p:nvSpPr>
        <p:spPr>
          <a:xfrm>
            <a:off x="4564227" y="405765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成功率</a:t>
            </a:r>
            <a:endParaRPr sz="1800"/>
          </a:p>
        </p:txBody>
      </p:sp>
      <p:sp>
        <p:nvSpPr>
          <p:cNvPr id="50" name="TextBox 49"/>
          <p:cNvSpPr txBox="1"/>
          <p:nvPr/>
        </p:nvSpPr>
        <p:spPr>
          <a:xfrm>
            <a:off x="4564227" y="437769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7A5FCC"/>
                </a:solidFill>
                <a:latin typeface="微软雅黑" panose="020B0503020204020204" charset="-122"/>
              </a:defRPr>
            </a:pPr>
            <a:r>
              <a:t>98.0%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75907" y="4423410"/>
            <a:ext cx="109728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75907" y="445084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目标: 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75907" y="4834890"/>
            <a:ext cx="109728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75907" y="488061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优异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0387" y="3646170"/>
            <a:ext cx="3520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0387" y="3646170"/>
            <a:ext cx="91440" cy="20574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58987" y="378333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自动回退</a:t>
            </a:r>
            <a:endParaRPr sz="1800"/>
          </a:p>
        </p:txBody>
      </p:sp>
      <p:sp>
        <p:nvSpPr>
          <p:cNvPr id="58" name="TextBox 57"/>
          <p:cNvSpPr txBox="1"/>
          <p:nvPr/>
        </p:nvSpPr>
        <p:spPr>
          <a:xfrm>
            <a:off x="8358987" y="4057650"/>
            <a:ext cx="3154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800"/>
              <a:t>成功率</a:t>
            </a:r>
            <a:endParaRPr sz="1800"/>
          </a:p>
        </p:txBody>
      </p:sp>
      <p:sp>
        <p:nvSpPr>
          <p:cNvPr id="59" name="TextBox 58"/>
          <p:cNvSpPr txBox="1"/>
          <p:nvPr/>
        </p:nvSpPr>
        <p:spPr>
          <a:xfrm>
            <a:off x="8358987" y="4377690"/>
            <a:ext cx="2057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91.7%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370667" y="4423410"/>
            <a:ext cx="1097280" cy="320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370667" y="445084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目标: 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370667" y="4834890"/>
            <a:ext cx="109728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70667" y="488061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可靠</a:t>
            </a:r>
          </a:p>
        </p:txBody>
      </p:sp>
      <p:sp>
        <p:nvSpPr>
          <p:cNvPr id="68" name="Rectangle 30"/>
          <p:cNvSpPr/>
          <p:nvPr/>
        </p:nvSpPr>
        <p:spPr>
          <a:xfrm>
            <a:off x="640080" y="5777865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31"/>
          <p:cNvSpPr/>
          <p:nvPr/>
        </p:nvSpPr>
        <p:spPr>
          <a:xfrm>
            <a:off x="640080" y="5777865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32"/>
          <p:cNvSpPr txBox="1"/>
          <p:nvPr/>
        </p:nvSpPr>
        <p:spPr>
          <a:xfrm>
            <a:off x="868680" y="582358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71" name="TextBox 33"/>
          <p:cNvSpPr txBox="1"/>
          <p:nvPr/>
        </p:nvSpPr>
        <p:spPr>
          <a:xfrm>
            <a:off x="1280160" y="5873877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通过知识溯源、独立审核、辩论修正和人工兜底四层机制，将最终专业知识谬误率控制在 2.17%，显著优于赛题 &lt; 5% 的要求。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消融实验与可靠性 | </a:t>
            </a:r>
            <a:r>
              <a:t>多Agent必要 · 三级容错可靠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第三章 · 效果与价值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7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852160" cy="45720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4183"/>
            <a:ext cx="58521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🔬 消融实验对比（四种配置）</a:t>
            </a:r>
            <a:endParaRPr sz="180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01168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91440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配置</a:t>
                      </a:r>
                      <a:endParaRPr sz="16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谬误率</a:t>
                      </a:r>
                      <a:endParaRPr sz="16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适配率</a:t>
                      </a:r>
                      <a:endParaRPr sz="16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600"/>
                        <a:t>说明</a:t>
                      </a:r>
                      <a:endParaRPr sz="16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Direct-LLM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高（未通过）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差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模型直接生成，无约束无协同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RAG-only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较高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一般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加知识检索，无决策和审核闭环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关闭审核Agent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7.0 %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—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仅知识库+生成，无独立审核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Full-System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2.7 %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最优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完整多Agent + 辩论修正 + 动态决策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4709160"/>
            <a:ext cx="5852160" cy="935990"/>
          </a:xfrm>
          <a:prstGeom prst="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777740"/>
            <a:ext cx="2286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400"/>
              <a:t>🔑 关键结论：</a:t>
            </a:r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822960" y="5056505"/>
            <a:ext cx="5486400" cy="589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880"/>
              </a:spcAft>
              <a:defRPr sz="1200" b="1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审核修复率达到 91.4%</a:t>
            </a:r>
          </a:p>
          <a:p>
            <a:pPr algn="l">
              <a:spcAft>
                <a:spcPts val="880"/>
              </a:spcAft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• 完整多Agent系统在所有维度上综合最优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417320"/>
            <a:ext cx="4754880" cy="45720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464183"/>
            <a:ext cx="47548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🛡️ 三级容错流程</a:t>
            </a:r>
            <a:endParaRPr sz="1800"/>
          </a:p>
        </p:txBody>
      </p:sp>
      <p:sp>
        <p:nvSpPr>
          <p:cNvPr id="18" name="Rounded Rectangle 17"/>
          <p:cNvSpPr/>
          <p:nvPr/>
        </p:nvSpPr>
        <p:spPr>
          <a:xfrm>
            <a:off x="7703820" y="2011680"/>
            <a:ext cx="297243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03820" y="2011680"/>
            <a:ext cx="573405" cy="7772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3900" y="2056130"/>
            <a:ext cx="189103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DeepSeek 云端主模型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900" y="2367915"/>
            <a:ext cx="189103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主要生成服务</a:t>
            </a:r>
            <a:endParaRPr sz="1200"/>
          </a:p>
        </p:txBody>
      </p:sp>
      <p:sp>
        <p:nvSpPr>
          <p:cNvPr id="23" name="TextBox 22"/>
          <p:cNvSpPr txBox="1"/>
          <p:nvPr/>
        </p:nvSpPr>
        <p:spPr>
          <a:xfrm>
            <a:off x="8091170" y="2863850"/>
            <a:ext cx="320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↓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3820" y="3285490"/>
            <a:ext cx="2971800" cy="854075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03820" y="3285490"/>
            <a:ext cx="548640" cy="854075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3900" y="3307080"/>
            <a:ext cx="234061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t>Ollama 本地模型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3900" y="3611880"/>
            <a:ext cx="206311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自动回退，保障连续性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091170" y="4221480"/>
            <a:ext cx="320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↓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03820" y="4635500"/>
            <a:ext cx="2971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03820" y="4635500"/>
            <a:ext cx="548640" cy="91440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03820" y="493395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3900" y="47086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确定性逻辑兜底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2460" y="4973320"/>
            <a:ext cx="25273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明确错误 /needs_human_review</a:t>
            </a:r>
            <a:br>
              <a:rPr sz="1200"/>
            </a:br>
            <a:r>
              <a:rPr sz="1200"/>
              <a:t>不伪造内容，保持会话状态</a:t>
            </a:r>
            <a:endParaRPr sz="1200"/>
          </a:p>
        </p:txBody>
      </p:sp>
      <p:sp>
        <p:nvSpPr>
          <p:cNvPr id="39" name="TextBox 31"/>
          <p:cNvSpPr txBox="1"/>
          <p:nvPr/>
        </p:nvSpPr>
        <p:spPr>
          <a:xfrm>
            <a:off x="7703820" y="3529965"/>
            <a:ext cx="548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</a:t>
            </a:r>
            <a:r>
              <a:rPr lang="en-US"/>
              <a:t>2</a:t>
            </a:r>
            <a:endParaRPr lang="en-US"/>
          </a:p>
        </p:txBody>
      </p:sp>
      <p:sp>
        <p:nvSpPr>
          <p:cNvPr id="40" name="TextBox 31"/>
          <p:cNvSpPr txBox="1"/>
          <p:nvPr/>
        </p:nvSpPr>
        <p:spPr>
          <a:xfrm>
            <a:off x="7703820" y="2212975"/>
            <a:ext cx="5486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</a:t>
            </a:r>
            <a:r>
              <a:rPr lang="en-US"/>
              <a:t>1</a:t>
            </a:r>
            <a:endParaRPr lang="en-US"/>
          </a:p>
        </p:txBody>
      </p:sp>
      <p:sp>
        <p:nvSpPr>
          <p:cNvPr id="41" name="文本框 40"/>
          <p:cNvSpPr txBox="1"/>
          <p:nvPr/>
        </p:nvSpPr>
        <p:spPr>
          <a:xfrm>
            <a:off x="8411210" y="2880360"/>
            <a:ext cx="188912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>
                <a:solidFill>
                  <a:srgbClr val="60707A"/>
                </a:solidFill>
                <a:sym typeface="+mn-ea"/>
              </a:rPr>
              <a:t>超时/限流/无正文</a:t>
            </a:r>
            <a:endParaRPr sz="1600">
              <a:sym typeface="+mn-ea"/>
            </a:endParaRPr>
          </a:p>
          <a:p>
            <a:endParaRPr lang="zh-CN" altLang="en-US" sz="1600"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428355" y="4219575"/>
            <a:ext cx="188912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1400">
                <a:solidFill>
                  <a:srgbClr val="60707A"/>
                </a:solidFill>
                <a:sym typeface="+mn-ea"/>
              </a:rPr>
              <a:t>两类均不可用</a:t>
            </a:r>
            <a:endParaRPr sz="1600">
              <a:sym typeface="+mn-ea"/>
            </a:endParaRPr>
          </a:p>
          <a:p>
            <a:endParaRPr lang="zh-CN" altLang="en-US" sz="1600">
              <a:sym typeface="+mn-ea"/>
            </a:endParaRPr>
          </a:p>
        </p:txBody>
      </p:sp>
      <p:sp>
        <p:nvSpPr>
          <p:cNvPr id="68" name="Rectangle 30"/>
          <p:cNvSpPr/>
          <p:nvPr/>
        </p:nvSpPr>
        <p:spPr>
          <a:xfrm>
            <a:off x="640080" y="5777865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31"/>
          <p:cNvSpPr/>
          <p:nvPr/>
        </p:nvSpPr>
        <p:spPr>
          <a:xfrm>
            <a:off x="640080" y="5777865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32"/>
          <p:cNvSpPr txBox="1"/>
          <p:nvPr/>
        </p:nvSpPr>
        <p:spPr>
          <a:xfrm>
            <a:off x="868680" y="582358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71" name="TextBox 33"/>
          <p:cNvSpPr txBox="1"/>
          <p:nvPr/>
        </p:nvSpPr>
        <p:spPr>
          <a:xfrm>
            <a:off x="1280160" y="5873877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消融实验验证多</a:t>
            </a:r>
            <a:r>
              <a:rPr lang="en-US" altLang="zh-CN" sz="1600"/>
              <a:t>Agent</a:t>
            </a:r>
            <a:r>
              <a:rPr lang="zh-CN" altLang="en-US" sz="1600"/>
              <a:t>协同的必要性（谬误率从7.0%降至2.7%）；故障测试验证模型异常时的可用性（自动回退成功率91.7%）。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创新点与应用价值 | </a:t>
            </a:r>
            <a:r>
              <a:t>四项创新 · 三类价值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第三章 · 效果与价值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1</a:t>
            </a:r>
            <a:r>
              <a:rPr lang="en-US"/>
              <a:t>8</a:t>
            </a:r>
            <a:r>
              <a:t>/20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5486400" cy="45720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32738"/>
            <a:ext cx="5486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💡 四项创新机制</a:t>
            </a:r>
            <a:endParaRPr sz="1800"/>
          </a:p>
        </p:txBody>
      </p:sp>
      <p:sp>
        <p:nvSpPr>
          <p:cNvPr id="12" name="Rounded Rectangle 11"/>
          <p:cNvSpPr/>
          <p:nvPr/>
        </p:nvSpPr>
        <p:spPr>
          <a:xfrm>
            <a:off x="640080" y="1874520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1965960"/>
            <a:ext cx="548640" cy="54864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391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8740" y="1947545"/>
            <a:ext cx="49371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400"/>
              <a:t>候选目录约束与置信度门控的学情诊断机制</a:t>
            </a:r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1360170" y="2258568"/>
            <a:ext cx="4480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将学情诊断从「模型自由猜测」转化为「目录约束下的证据驱动诊断」，降低初始路径错误</a:t>
            </a:r>
            <a:endParaRPr sz="1200"/>
          </a:p>
        </p:txBody>
      </p:sp>
      <p:sp>
        <p:nvSpPr>
          <p:cNvPr id="17" name="Rounded Rectangle 16"/>
          <p:cNvSpPr/>
          <p:nvPr/>
        </p:nvSpPr>
        <p:spPr>
          <a:xfrm>
            <a:off x="640080" y="2862072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2953512"/>
            <a:ext cx="548640" cy="5486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2666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8740" y="2934970"/>
            <a:ext cx="49371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400"/>
              <a:t>基于知识点状态和先修依赖的动态阶段规划机制</a:t>
            </a:r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1360170" y="3246120"/>
            <a:ext cx="4480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以73个原子知识点+硬前置DAG+子知识点状态，让学习路径从静态目录变为动态决策过程</a:t>
            </a:r>
            <a:endParaRPr sz="1200"/>
          </a:p>
        </p:txBody>
      </p:sp>
      <p:sp>
        <p:nvSpPr>
          <p:cNvPr id="22" name="Rounded Rectangle 21"/>
          <p:cNvSpPr/>
          <p:nvPr/>
        </p:nvSpPr>
        <p:spPr>
          <a:xfrm>
            <a:off x="640080" y="3849624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941064"/>
            <a:ext cx="548640" cy="548640"/>
          </a:xfrm>
          <a:prstGeom prst="round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142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" y="3923030"/>
            <a:ext cx="49371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1400"/>
              <a:t>基于Claim—Source绑定的生成—审查—辩论—修正机制</a:t>
            </a:r>
            <a:endParaRPr sz="1400"/>
          </a:p>
        </p:txBody>
      </p:sp>
      <p:sp>
        <p:nvSpPr>
          <p:cNvPr id="26" name="TextBox 25"/>
          <p:cNvSpPr txBox="1"/>
          <p:nvPr/>
        </p:nvSpPr>
        <p:spPr>
          <a:xfrm>
            <a:off x="1360170" y="4233672"/>
            <a:ext cx="4480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将「模型自检」升级为独立Agent之间基于证据的结构化协同，专业内容可追溯、可修正</a:t>
            </a:r>
            <a:endParaRPr sz="1200"/>
          </a:p>
        </p:txBody>
      </p:sp>
      <p:sp>
        <p:nvSpPr>
          <p:cNvPr id="27" name="Rounded Rectangle 26"/>
          <p:cNvSpPr/>
          <p:nvPr/>
        </p:nvSpPr>
        <p:spPr>
          <a:xfrm>
            <a:off x="640080" y="4837176"/>
            <a:ext cx="54864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28616"/>
            <a:ext cx="54864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01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" y="4910455"/>
            <a:ext cx="49371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400"/>
              <a:t>云端、本地与确定性逻辑结合的三级容错体系</a:t>
            </a:r>
            <a:endParaRPr sz="1400"/>
          </a:p>
        </p:txBody>
      </p:sp>
      <p:sp>
        <p:nvSpPr>
          <p:cNvPr id="31" name="TextBox 30"/>
          <p:cNvSpPr txBox="1"/>
          <p:nvPr/>
        </p:nvSpPr>
        <p:spPr>
          <a:xfrm>
            <a:off x="1360170" y="5221224"/>
            <a:ext cx="448056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200"/>
              <a:t>保障会话状态不丢失、流程不被回退覆盖、不可恢复时明确说明，不以虚假内容掩盖失败</a:t>
            </a:r>
            <a:endParaRPr sz="1200"/>
          </a:p>
        </p:txBody>
      </p:sp>
      <p:sp>
        <p:nvSpPr>
          <p:cNvPr id="32" name="Rounded Rectangle 31"/>
          <p:cNvSpPr/>
          <p:nvPr/>
        </p:nvSpPr>
        <p:spPr>
          <a:xfrm>
            <a:off x="6400800" y="1280160"/>
            <a:ext cx="512064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332738"/>
            <a:ext cx="51206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800"/>
              <a:t>🎯 三类应用场景价值</a:t>
            </a:r>
            <a:endParaRPr sz="1800"/>
          </a:p>
        </p:txBody>
      </p:sp>
      <p:sp>
        <p:nvSpPr>
          <p:cNvPr id="34" name="Rounded Rectangle 33"/>
          <p:cNvSpPr/>
          <p:nvPr/>
        </p:nvSpPr>
        <p:spPr>
          <a:xfrm>
            <a:off x="6400800" y="18745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1874520"/>
            <a:ext cx="73152" cy="12344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1903095"/>
            <a:ext cx="54864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1948815"/>
            <a:ext cx="1371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1800"/>
              <a:t>学习者</a:t>
            </a:r>
            <a:endParaRPr sz="1800"/>
          </a:p>
        </p:txBody>
      </p:sp>
      <p:sp>
        <p:nvSpPr>
          <p:cNvPr id="38" name="TextBox 37"/>
          <p:cNvSpPr txBox="1"/>
          <p:nvPr/>
        </p:nvSpPr>
        <p:spPr>
          <a:xfrm>
            <a:off x="7178040" y="2268855"/>
            <a:ext cx="4206240" cy="85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降低试错成本</a:t>
            </a:r>
            <a:endParaRPr sz="1200"/>
          </a:p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获得适配基础+设备的实训路径</a:t>
            </a:r>
            <a:endParaRPr sz="1200"/>
          </a:p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减少重复学习，高效补缺</a:t>
            </a:r>
            <a:endParaRPr sz="1200"/>
          </a:p>
        </p:txBody>
      </p:sp>
      <p:sp>
        <p:nvSpPr>
          <p:cNvPr id="39" name="Rounded Rectangle 38"/>
          <p:cNvSpPr/>
          <p:nvPr/>
        </p:nvSpPr>
        <p:spPr>
          <a:xfrm>
            <a:off x="6400800" y="320040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200400"/>
            <a:ext cx="73152" cy="1234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206115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3251835"/>
            <a:ext cx="1371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1800"/>
              <a:t>高  校</a:t>
            </a:r>
            <a:endParaRPr sz="1800"/>
          </a:p>
        </p:txBody>
      </p:sp>
      <p:sp>
        <p:nvSpPr>
          <p:cNvPr id="43" name="TextBox 42"/>
          <p:cNvSpPr txBox="1"/>
          <p:nvPr/>
        </p:nvSpPr>
        <p:spPr>
          <a:xfrm>
            <a:off x="7178040" y="3566160"/>
            <a:ext cx="4206240" cy="85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降低实训课程更新和差异化辅导成本</a:t>
            </a:r>
            <a:endParaRPr sz="1200"/>
          </a:p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辅助教师掌握班级学情</a:t>
            </a:r>
            <a:endParaRPr sz="1200"/>
          </a:p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支持本地化部署与知识管理</a:t>
            </a:r>
            <a:endParaRPr sz="1200"/>
          </a:p>
        </p:txBody>
      </p:sp>
      <p:sp>
        <p:nvSpPr>
          <p:cNvPr id="44" name="Rounded Rectangle 43"/>
          <p:cNvSpPr/>
          <p:nvPr/>
        </p:nvSpPr>
        <p:spPr>
          <a:xfrm>
            <a:off x="6400800" y="452628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4526280"/>
            <a:ext cx="73152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509135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4554855"/>
            <a:ext cx="13716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1800"/>
              <a:t>企  业</a:t>
            </a:r>
            <a:endParaRPr sz="1800"/>
          </a:p>
        </p:txBody>
      </p:sp>
      <p:sp>
        <p:nvSpPr>
          <p:cNvPr id="48" name="TextBox 47"/>
          <p:cNvSpPr txBox="1"/>
          <p:nvPr/>
        </p:nvSpPr>
        <p:spPr>
          <a:xfrm>
            <a:off x="7178040" y="4892040"/>
            <a:ext cx="4206240" cy="850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支持岗位培训与技术转岗</a:t>
            </a:r>
            <a:endParaRPr sz="1200"/>
          </a:p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标准化内训流程</a:t>
            </a:r>
            <a:endParaRPr sz="1200"/>
          </a:p>
          <a:p>
            <a:pPr algn="l">
              <a:spcAft>
                <a:spcPts val="800"/>
              </a:spcAft>
              <a:defRPr sz="10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200"/>
              <a:t>• 私有化知识部署与合规</a:t>
            </a:r>
            <a:endParaRPr sz="1200"/>
          </a:p>
        </p:txBody>
      </p:sp>
      <p:sp>
        <p:nvSpPr>
          <p:cNvPr id="68" name="Rectangle 30"/>
          <p:cNvSpPr/>
          <p:nvPr/>
        </p:nvSpPr>
        <p:spPr>
          <a:xfrm>
            <a:off x="640080" y="5795010"/>
            <a:ext cx="10881360" cy="705485"/>
          </a:xfrm>
          <a:prstGeom prst="rect">
            <a:avLst/>
          </a:prstGeom>
          <a:solidFill>
            <a:srgbClr val="FDF3E6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31"/>
          <p:cNvSpPr/>
          <p:nvPr/>
        </p:nvSpPr>
        <p:spPr>
          <a:xfrm>
            <a:off x="640080" y="5795010"/>
            <a:ext cx="76200" cy="69913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32"/>
          <p:cNvSpPr txBox="1"/>
          <p:nvPr/>
        </p:nvSpPr>
        <p:spPr>
          <a:xfrm>
            <a:off x="868680" y="584073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t>❝</a:t>
            </a:r>
          </a:p>
        </p:txBody>
      </p:sp>
      <p:sp>
        <p:nvSpPr>
          <p:cNvPr id="71" name="TextBox 33"/>
          <p:cNvSpPr txBox="1"/>
          <p:nvPr/>
        </p:nvSpPr>
        <p:spPr>
          <a:xfrm>
            <a:off x="1280160" y="5891022"/>
            <a:ext cx="100584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 sz="1600"/>
              <a:t>四项创新机制从诊断、规划、审核、容错四个维度系统性解决个性化实训痛点，覆盖学习者、高校和企业三类核心用户。</a:t>
            </a:r>
            <a:endParaRPr lang="zh-CN" altLang="en-US"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椭圆 38"/>
          <p:cNvSpPr/>
          <p:nvPr/>
        </p:nvSpPr>
        <p:spPr>
          <a:xfrm>
            <a:off x="1207770" y="1663700"/>
            <a:ext cx="3325495" cy="3310890"/>
          </a:xfrm>
          <a:prstGeom prst="ellipse">
            <a:avLst/>
          </a:prstGeom>
          <a:solidFill>
            <a:srgbClr val="2E86A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38" name="椭圆 37"/>
          <p:cNvSpPr/>
          <p:nvPr/>
        </p:nvSpPr>
        <p:spPr>
          <a:xfrm>
            <a:off x="991235" y="1931035"/>
            <a:ext cx="3325495" cy="3310890"/>
          </a:xfrm>
          <a:prstGeom prst="ellipse">
            <a:avLst/>
          </a:prstGeom>
          <a:solidFill>
            <a:srgbClr val="E87C2A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7" name="椭圆 36"/>
          <p:cNvSpPr/>
          <p:nvPr/>
        </p:nvSpPr>
        <p:spPr>
          <a:xfrm>
            <a:off x="1080135" y="1773555"/>
            <a:ext cx="3325495" cy="3310890"/>
          </a:xfrm>
          <a:prstGeom prst="ellipse">
            <a:avLst/>
          </a:prstGeom>
          <a:solidFill>
            <a:srgbClr val="1A3A6C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1882775" y="2684145"/>
            <a:ext cx="1720215" cy="148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defRPr sz="3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9600">
                <a:solidFill>
                  <a:schemeClr val="bg1"/>
                </a:solidFill>
                <a:sym typeface="+mn-ea"/>
              </a:rPr>
              <a:t>0</a:t>
            </a:r>
            <a:r>
              <a:rPr lang="en-US" sz="9600">
                <a:solidFill>
                  <a:schemeClr val="bg1"/>
                </a:solidFill>
                <a:sym typeface="+mn-ea"/>
              </a:rPr>
              <a:t>4</a:t>
            </a:r>
            <a:endParaRPr lang="en-US" sz="9600">
              <a:solidFill>
                <a:schemeClr val="bg1"/>
              </a:solidFill>
              <a:sym typeface="+mn-ea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963795" y="3013710"/>
            <a:ext cx="59918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 b="1">
                <a:solidFill>
                  <a:srgbClr val="1A3A6C"/>
                </a:solidFill>
                <a:latin typeface="+mn-ea"/>
              </a:rPr>
              <a:t>总结</a:t>
            </a:r>
            <a:r>
              <a:rPr lang="zh-CN" altLang="en-US" sz="4800" b="1">
                <a:solidFill>
                  <a:srgbClr val="1A3A6C"/>
                </a:solidFill>
                <a:latin typeface="+mn-ea"/>
              </a:rPr>
              <a:t>与展望</a:t>
            </a:r>
            <a:endParaRPr lang="zh-CN" altLang="en-US" sz="4800" b="1">
              <a:solidFill>
                <a:srgbClr val="1A3A6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76395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66310" y="485775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让大模型走向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6310" y="1080135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可诊断、可纠错、可决策的实训基础设施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46607" y="23774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746607" y="2377440"/>
            <a:ext cx="2468880" cy="109728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746607" y="2606040"/>
            <a:ext cx="24688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2400"/>
              <a:t>个性化</a:t>
            </a:r>
            <a:endParaRPr sz="2400"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1249527" y="3166110"/>
            <a:ext cx="1463040" cy="18288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929487" y="3337560"/>
            <a:ext cx="2103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600"/>
              <a:t>根据学习者状态</a:t>
            </a:r>
            <a:br>
              <a:rPr sz="1600"/>
            </a:br>
            <a:r>
              <a:rPr sz="1600"/>
              <a:t>动态适配内容与路径</a:t>
            </a:r>
            <a:endParaRPr sz="1600"/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3489807" y="23774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3489807" y="2377440"/>
            <a:ext cx="246888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489807" y="2606040"/>
            <a:ext cx="24688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2400"/>
              <a:t>高保真</a:t>
            </a:r>
            <a:endParaRPr sz="2400"/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3992727" y="3166110"/>
            <a:ext cx="1463040" cy="1828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3672687" y="3337560"/>
            <a:ext cx="2103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600"/>
              <a:t>知识溯源、独立审核</a:t>
            </a:r>
            <a:br>
              <a:rPr sz="1600"/>
            </a:br>
            <a:r>
              <a:rPr sz="1600"/>
              <a:t>多轮辩论修正</a:t>
            </a:r>
            <a:endParaRPr sz="1600"/>
          </a:p>
        </p:txBody>
      </p:sp>
      <p:sp>
        <p:nvSpPr>
          <p:cNvPr id="16" name="Rounded Rectangle 15"/>
          <p:cNvSpPr/>
          <p:nvPr>
            <p:custDataLst>
              <p:tags r:id="rId11"/>
            </p:custDataLst>
          </p:nvPr>
        </p:nvSpPr>
        <p:spPr>
          <a:xfrm>
            <a:off x="6233007" y="23774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2"/>
            </p:custDataLst>
          </p:nvPr>
        </p:nvSpPr>
        <p:spPr>
          <a:xfrm>
            <a:off x="6233007" y="2377440"/>
            <a:ext cx="2468880" cy="10972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6233007" y="2606040"/>
            <a:ext cx="24688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2400"/>
              <a:t>可闭环</a:t>
            </a:r>
            <a:endParaRPr sz="2400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6735927" y="3166110"/>
            <a:ext cx="1463040" cy="18288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6415887" y="3337560"/>
            <a:ext cx="2103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600"/>
              <a:t>学习、测试、评估</a:t>
            </a:r>
            <a:br>
              <a:rPr sz="1600"/>
            </a:br>
            <a:r>
              <a:rPr sz="1600"/>
              <a:t>再规划持续循环</a:t>
            </a:r>
            <a:endParaRPr sz="1600"/>
          </a:p>
        </p:txBody>
      </p:sp>
      <p:sp>
        <p:nvSpPr>
          <p:cNvPr id="21" name="Rounded Rectangle 20"/>
          <p:cNvSpPr/>
          <p:nvPr>
            <p:custDataLst>
              <p:tags r:id="rId16"/>
            </p:custDataLst>
          </p:nvPr>
        </p:nvSpPr>
        <p:spPr>
          <a:xfrm>
            <a:off x="8976207" y="2377440"/>
            <a:ext cx="24688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17"/>
            </p:custDataLst>
          </p:nvPr>
        </p:nvSpPr>
        <p:spPr>
          <a:xfrm>
            <a:off x="8976207" y="2377440"/>
            <a:ext cx="246888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8"/>
            </p:custDataLst>
          </p:nvPr>
        </p:nvSpPr>
        <p:spPr>
          <a:xfrm>
            <a:off x="8976207" y="2606040"/>
            <a:ext cx="24688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sz="2400"/>
              <a:t>可部署</a:t>
            </a:r>
            <a:endParaRPr sz="2400"/>
          </a:p>
        </p:txBody>
      </p:sp>
      <p:sp>
        <p:nvSpPr>
          <p:cNvPr id="24" name="Rectangle 23"/>
          <p:cNvSpPr/>
          <p:nvPr>
            <p:custDataLst>
              <p:tags r:id="rId19"/>
            </p:custDataLst>
          </p:nvPr>
        </p:nvSpPr>
        <p:spPr>
          <a:xfrm>
            <a:off x="9479127" y="3166110"/>
            <a:ext cx="1463040" cy="182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9159087" y="3337560"/>
            <a:ext cx="21031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sz="1600"/>
              <a:t>支持云端、本地</a:t>
            </a:r>
            <a:br>
              <a:rPr sz="1600"/>
            </a:br>
            <a:r>
              <a:rPr sz="1600"/>
              <a:t>和三级容错运行</a:t>
            </a:r>
            <a:endParaRPr sz="1600"/>
          </a:p>
        </p:txBody>
      </p:sp>
      <p:sp>
        <p:nvSpPr>
          <p:cNvPr id="26" name="Rounded Rectangle 25"/>
          <p:cNvSpPr/>
          <p:nvPr/>
        </p:nvSpPr>
        <p:spPr>
          <a:xfrm>
            <a:off x="914400" y="4343400"/>
            <a:ext cx="10332720" cy="1188720"/>
          </a:xfrm>
          <a:prstGeom prst="roundRect">
            <a:avLst/>
          </a:prstGeom>
          <a:solidFill>
            <a:srgbClr val="F5F7FA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343400"/>
            <a:ext cx="109728" cy="118872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1A3A6C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1A3A6C"/>
                </a:solidFill>
              </a:rPr>
              <a:t>❝</a:t>
            </a:r>
            <a:endParaRPr>
              <a:solidFill>
                <a:srgbClr val="1A3A6C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442341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我们不是让大模型再生成一门课程，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而是让四个职责明确的 Agent 共同陪伴学习者完成一条</a:t>
            </a:r>
          </a:p>
          <a:p>
            <a:pPr algn="ctr">
              <a:spcAft>
                <a:spcPts val="1200"/>
              </a:spcAft>
              <a:defRPr sz="1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能够诊断、纠错和动态进化的工程实训路径。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12648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感谢各位专家指导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583680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 |  赛题编号：XH-202630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115695" y="485775"/>
            <a:ext cx="191706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600" b="1">
                <a:solidFill>
                  <a:schemeClr val="bg1"/>
                </a:solidFill>
              </a:rPr>
              <a:t>总结</a:t>
            </a:r>
            <a:endParaRPr lang="zh-CN" altLang="en-US" sz="6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76395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66310" y="763905"/>
            <a:ext cx="1005840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 altLang="en-US"/>
              <a:t>从单领域可运行 → 多领域规模化落地</a:t>
            </a:r>
            <a:endParaRPr lang="zh-CN" altLang="en-US"/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832485" y="2161540"/>
            <a:ext cx="3220720" cy="275971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832485" y="2161540"/>
            <a:ext cx="3220720" cy="109855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832485" y="2263140"/>
            <a:ext cx="3220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lang="zh-CN" altLang="en-US" sz="2400"/>
              <a:t>技术打磨</a:t>
            </a:r>
            <a:endParaRPr lang="zh-CN" altLang="en-US" sz="2400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1044575" y="2708910"/>
            <a:ext cx="2743200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lang="zh-CN" altLang="en-US" sz="1400"/>
              <a:t>增加交互式 </a:t>
            </a:r>
            <a:r>
              <a:rPr lang="en-US" altLang="zh-CN" sz="1400"/>
              <a:t>CodeLab：</a:t>
            </a:r>
            <a:r>
              <a:rPr lang="zh-CN" altLang="en-US" sz="1400"/>
              <a:t>教程内嵌可编辑、可执行代码块，学习即实操</a:t>
            </a:r>
            <a:r>
              <a:rPr lang="en-US" altLang="zh-CN" sz="1400"/>
              <a:t>;</a:t>
            </a:r>
            <a:endParaRPr lang="zh-CN" altLang="en-US" sz="1400"/>
          </a:p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lang="zh-CN" altLang="en-US" sz="1400"/>
              <a:t>审核 </a:t>
            </a:r>
            <a:r>
              <a:rPr lang="en-US" altLang="zh-CN" sz="1400"/>
              <a:t>Agent </a:t>
            </a:r>
            <a:r>
              <a:rPr lang="zh-CN" altLang="en-US" sz="1400"/>
              <a:t>接入行业规范库，审核从"知识库核验"升级到"行业合规校验"</a:t>
            </a:r>
            <a:r>
              <a:rPr lang="en-US" altLang="zh-CN" sz="1400"/>
              <a:t>;</a:t>
            </a:r>
            <a:endParaRPr lang="zh-CN" altLang="en-US" sz="1400"/>
          </a:p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lang="zh-CN" altLang="en-US" sz="1400"/>
              <a:t>学情评估引入掌握度预测模型，基于问答历史和行为数据预判盲区，决策更主动</a:t>
            </a:r>
            <a:endParaRPr lang="zh-CN" altLang="en-US" sz="1400"/>
          </a:p>
        </p:txBody>
      </p:sp>
      <p:sp>
        <p:nvSpPr>
          <p:cNvPr id="11" name="Rounded Rectangle 10"/>
          <p:cNvSpPr/>
          <p:nvPr>
            <p:custDataLst>
              <p:tags r:id="rId5"/>
            </p:custDataLst>
          </p:nvPr>
        </p:nvSpPr>
        <p:spPr>
          <a:xfrm>
            <a:off x="4561840" y="2161540"/>
            <a:ext cx="3220720" cy="275971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6"/>
            </p:custDataLst>
          </p:nvPr>
        </p:nvSpPr>
        <p:spPr>
          <a:xfrm>
            <a:off x="4561840" y="2161540"/>
            <a:ext cx="3220720" cy="109855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7"/>
            </p:custDataLst>
          </p:nvPr>
        </p:nvSpPr>
        <p:spPr>
          <a:xfrm>
            <a:off x="4561840" y="2263140"/>
            <a:ext cx="3220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lang="zh-CN" altLang="en-US" sz="2400"/>
              <a:t>领域扩展</a:t>
            </a:r>
            <a:endParaRPr lang="zh-CN" altLang="en-US" sz="2400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800600" y="2724785"/>
            <a:ext cx="274320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lang="zh-CN" altLang="en-US" sz="1400"/>
              <a:t>迁移机制不变</a:t>
            </a:r>
            <a:endParaRPr lang="zh-CN" altLang="en-US" sz="1400"/>
          </a:p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lang="zh-CN" altLang="en-US" sz="1400"/>
              <a:t>只需替换「领域知识库 + 知识图谱先修关系 + 专业题库 + 行业审核规则 + 实训模板」，</a:t>
            </a:r>
            <a:r>
              <a:rPr lang="en-US" altLang="zh-CN" sz="1400"/>
              <a:t>Orchestrator、</a:t>
            </a:r>
            <a:r>
              <a:rPr lang="zh-CN" altLang="en-US" sz="1400"/>
              <a:t>状态管理、审核辩论、前端工作台全部通用。</a:t>
            </a:r>
            <a:endParaRPr lang="zh-CN" altLang="en-US" sz="1400"/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291195" y="2158365"/>
            <a:ext cx="3220720" cy="275971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8291195" y="2158365"/>
            <a:ext cx="3220720" cy="109855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291195" y="2259965"/>
            <a:ext cx="32207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lang="zh-CN" altLang="en-US" sz="2400"/>
              <a:t>本地+云端混合部署</a:t>
            </a:r>
            <a:endParaRPr lang="zh-CN" altLang="en-US" sz="2400"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556625" y="2720340"/>
            <a:ext cx="274320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lang="zh-CN" altLang="en-US" sz="1400"/>
              <a:t>进阶成为一个本地和云端结合的项目：</a:t>
            </a:r>
            <a:br>
              <a:rPr lang="zh-CN" altLang="en-US" sz="1400"/>
            </a:br>
            <a:r>
              <a:rPr lang="zh-CN" altLang="en-US" sz="1400"/>
              <a:t>本地</a:t>
            </a:r>
            <a:r>
              <a:rPr lang="en-US" altLang="zh-CN" sz="1400"/>
              <a:t>“</a:t>
            </a:r>
            <a:r>
              <a:rPr lang="zh-CN" altLang="en-US" sz="1400"/>
              <a:t>隐私 + 可控 + 不中断</a:t>
            </a:r>
            <a:r>
              <a:rPr lang="en-US" altLang="zh-CN" sz="1400"/>
              <a:t>”</a:t>
            </a:r>
            <a:r>
              <a:rPr lang="zh-CN" altLang="en-US" sz="1400"/>
              <a:t>数据与云端</a:t>
            </a:r>
            <a:r>
              <a:rPr lang="en-US" altLang="zh-CN" sz="1400"/>
              <a:t>“</a:t>
            </a:r>
            <a:r>
              <a:rPr lang="zh-CN" altLang="en-US" sz="1400"/>
              <a:t>算力 + 协同 + 规模</a:t>
            </a:r>
            <a:r>
              <a:rPr lang="en-US" altLang="zh-CN" sz="1400"/>
              <a:t>”</a:t>
            </a:r>
            <a:r>
              <a:rPr lang="zh-CN" altLang="en-US" sz="1400"/>
              <a:t>服务相结合。</a:t>
            </a:r>
            <a:endParaRPr lang="zh-CN" altLang="en-US" sz="1400"/>
          </a:p>
          <a:p>
            <a:pPr algn="l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rPr lang="zh-CN" altLang="en-US" sz="1400"/>
              <a:t>本地常驻轻量核心，云端按需弹性接入，两者走加密同步通道</a:t>
            </a:r>
            <a:endParaRPr lang="zh-CN" altLang="en-US" sz="1400"/>
          </a:p>
        </p:txBody>
      </p:sp>
      <p:sp>
        <p:nvSpPr>
          <p:cNvPr id="26" name="Rounded Rectangle 25"/>
          <p:cNvSpPr/>
          <p:nvPr/>
        </p:nvSpPr>
        <p:spPr>
          <a:xfrm>
            <a:off x="914400" y="5124450"/>
            <a:ext cx="10332720" cy="908050"/>
          </a:xfrm>
          <a:prstGeom prst="roundRect">
            <a:avLst/>
          </a:prstGeom>
          <a:solidFill>
            <a:srgbClr val="F5F7FA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124450"/>
            <a:ext cx="109855" cy="90805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1A3A6C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" y="503301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>
                <a:solidFill>
                  <a:srgbClr val="1A3A6C"/>
                </a:solidFill>
              </a:rPr>
              <a:t>❝</a:t>
            </a:r>
            <a:endParaRPr>
              <a:solidFill>
                <a:srgbClr val="1A3A6C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5204460"/>
            <a:ext cx="868680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/>
              <a:t> 本作品的核心资产不是"大模型微调"这一门课</a:t>
            </a:r>
            <a:endParaRPr lang="zh-CN" altLang="en-US"/>
          </a:p>
          <a:p>
            <a:pPr algn="ctr">
              <a:spcAft>
                <a:spcPts val="1200"/>
              </a:spcAft>
              <a:defRPr sz="16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lang="zh-CN" altLang="en-US"/>
              <a:t>而是一套可迁移的多</a:t>
            </a:r>
            <a:r>
              <a:rPr lang="en-US" altLang="zh-CN"/>
              <a:t>Agent</a:t>
            </a:r>
            <a:r>
              <a:rPr lang="zh-CN" altLang="en-US"/>
              <a:t>个性化实训基础设施</a:t>
            </a:r>
            <a:endParaRPr lang="zh-CN" altLang="en-US"/>
          </a:p>
        </p:txBody>
      </p:sp>
      <p:sp>
        <p:nvSpPr>
          <p:cNvPr id="30" name="Rectangle 29"/>
          <p:cNvSpPr/>
          <p:nvPr/>
        </p:nvSpPr>
        <p:spPr>
          <a:xfrm>
            <a:off x="0" y="612648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0" y="6217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感谢各位专家指导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6583680"/>
            <a:ext cx="12191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 |  赛题编号：XH-202630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1115695" y="485775"/>
            <a:ext cx="191706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600" b="1">
                <a:solidFill>
                  <a:schemeClr val="bg1"/>
                </a:solidFill>
              </a:rPr>
              <a:t>展望</a:t>
            </a:r>
            <a:endParaRPr lang="zh-CN" altLang="en-US" sz="6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附录A：指标定义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21/24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417320"/>
          <a:ext cx="107899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389120"/>
                <a:gridCol w="38404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指标</a:t>
                      </a:r>
                      <a:endParaRPr sz="20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定义</a:t>
                      </a:r>
                      <a:endParaRPr sz="20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计算公式</a:t>
                      </a:r>
                      <a:endParaRPr sz="2000"/>
                    </a:p>
                  </a:txBody>
                  <a:tcPr anchor="ctr">
                    <a:solidFill>
                      <a:srgbClr val="1A3A6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画像—资源难度适配准确率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资源难度与学习者画像匹配的比例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匹配案例数 / 可评估案例总数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核心知识点覆盖率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最终资源覆盖的知识点比例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覆盖知识点数 / 预期核心知识点总数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最终专业知识谬误率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最终资源中的专业错误比例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错误Claim数 / 可核验Claim总数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策略选择准确率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策略与人工标注一致的比例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一致决策数 / 可评估决策总数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完整流程成功率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完整闭环流程的比例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成功场景数 / 测试场景总数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自动回退成功率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模型故障后成功回退的比例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回退成功数 / 受控故障总数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附录B：消融实验配置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22/24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417320"/>
          <a:ext cx="107899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50392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配置</a:t>
                      </a:r>
                      <a:endParaRPr sz="2000"/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2000"/>
                        <a:t>详细说明</a:t>
                      </a:r>
                      <a:endParaRPr sz="2000"/>
                    </a:p>
                  </a:txBody>
                  <a:tcPr anchor="ctr">
                    <a:solidFill>
                      <a:srgbClr val="2E86A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Direct-LLM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直接由底层大模型生成学习资源，不使用知识约束、不使用多Agent协同机制。验证纯模型生成的基线水平。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RAG-only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在Direct-LLM基础上增加知识检索（RAG），为模型提供上下文知识片段，但不使用阶段决策和审核闭环。验证知识库单独的贡献。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No-Review-Agent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关闭专业知识与教学质量审核 Agent，保留学情诊断、资源生成和动态决策。验证独立审核Agent对降低谬误率的独立贡献。</a:t>
                      </a:r>
                      <a:endParaRPr sz="140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Full-System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E2A3A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1400"/>
                        <a:t>完整运行本作品的多智能体协同系统，包含四个运行时Agent、Orchestrator编排和审核辩论机制。作为完整系统对照。</a:t>
                      </a:r>
                      <a:endParaRPr sz="1400"/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附录C：故障回退与人工复核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23/24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10789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A3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463040"/>
            <a:ext cx="109728" cy="1463040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10332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rPr sz="2000"/>
              <a:t>DeepSeek 请求超时 / 限流 / API错误</a:t>
            </a:r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103327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自动触发 Ollama 本地模型回退。若 Ollama 成功生成，流程继续，用户端仅感知响应时间略长。会话状态保持一致，不丢失已生成的画像和阶段。</a:t>
            </a:r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10789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109728" cy="1463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10332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  <a:latin typeface="微软雅黑" panose="020B0503020204020204" charset="-122"/>
              </a:defRPr>
            </a:pPr>
            <a:r>
              <a:rPr sz="2000"/>
              <a:t>Ollama 不可用 / 本地模型加载失败</a:t>
            </a:r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80"/>
            <a:ext cx="103327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进入确定性逻辑兜底：流程保持、画像和阶段状态不回退；对必须生成的内容返回 needs_human_review 标记，不伪造看似正常但可能错误的学习资源。</a:t>
            </a:r>
            <a:endParaRPr sz="1400"/>
          </a:p>
        </p:txBody>
      </p:sp>
      <p:sp>
        <p:nvSpPr>
          <p:cNvPr id="18" name="Rounded Rectangle 17"/>
          <p:cNvSpPr/>
          <p:nvPr/>
        </p:nvSpPr>
        <p:spPr>
          <a:xfrm>
            <a:off x="685800" y="4663440"/>
            <a:ext cx="10789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87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663440"/>
            <a:ext cx="109728" cy="146304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3327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7C2A"/>
                </a:solidFill>
                <a:latin typeface="微软雅黑" panose="020B0503020204020204" charset="-122"/>
              </a:defRPr>
            </a:pPr>
            <a:r>
              <a:rPr sz="2000"/>
              <a:t>审核超过 3 轮仍有 must_fix 问题</a:t>
            </a:r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3327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rPr sz="1400"/>
              <a:t>学习包降级为 provisional 状态，标记 needs_human_review。已通过审核的内容块保留可用；有问题的块附带 issue_package 供人工查阅。系统保持诚实，不强行放行。</a:t>
            </a:r>
            <a:endParaRPr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73152" cy="502920"/>
          </a:xfrm>
          <a:prstGeom prst="rect">
            <a:avLst/>
          </a:prstGeom>
          <a:solidFill>
            <a:srgbClr val="E87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3A6C"/>
                </a:solidFill>
                <a:latin typeface="微软雅黑" panose="020B0503020204020204" charset="-122"/>
              </a:defRPr>
            </a:pPr>
            <a:r>
              <a:t>附录D：代表性案例输入输出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24/24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A7A"/>
                </a:solidFill>
                <a:latin typeface="微软雅黑" panose="020B0503020204020204" charset="-122"/>
              </a:defRPr>
            </a:pPr>
            <a:r>
              <a:t>AI Agent Trainer | 赛题编号：XH-202630</a:t>
            </a: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85800" y="1417320"/>
            <a:ext cx="5303520" cy="457200"/>
          </a:xfrm>
          <a:prstGeom prst="roundRect">
            <a:avLst/>
          </a:prstGeom>
          <a:solidFill>
            <a:srgbClr val="1A3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685800" y="1450467"/>
            <a:ext cx="53035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000"/>
              <a:t>案例1：零基础、低学习时长、无GPU</a:t>
            </a:r>
            <a:endParaRPr sz="2000"/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777240" y="19659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① 初始画像输入：零基础/文科背景/每天1小时/无GPU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② 诊断结果：需要补齐Python、PyTorch前置基础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③ 阶段规划：从Python基础+Linux命令开始，拆分小步阶段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④ 学习包：增加概念解释和完整导入语句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⑤ 测试结果：正确率75% → 触发 reinforce 巩固策略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⑥ 下一阶段策略：生成降维解释+补充练习，不急于推进</a:t>
            </a:r>
          </a:p>
        </p:txBody>
      </p:sp>
      <p:sp>
        <p:nvSpPr>
          <p:cNvPr id="13" name="Rounded Rectangle 12"/>
          <p:cNvSpPr/>
          <p:nvPr>
            <p:custDataLst>
              <p:tags r:id="rId4"/>
            </p:custDataLst>
          </p:nvPr>
        </p:nvSpPr>
        <p:spPr>
          <a:xfrm>
            <a:off x="6172200" y="1417320"/>
            <a:ext cx="5303520" cy="4572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6172200" y="1450467"/>
            <a:ext cx="53035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2000"/>
              <a:t>案例2：有工程基础、高配置部署需求</a:t>
            </a:r>
            <a:endParaRPr sz="2000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6263640" y="19659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① 初始画像输入：PyTorch熟练/有训练经验/每天2小时/A10+QLoRA目标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② 诊断结果：跳过DL基础，目标定位QLoRA→权重合并→vLLM部署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③ 阶段规划：直接解锁HuggingFace→LoRA/QLoRA知识点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④ 学习包：输出4-bit量化+小Batch+显存优化代码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⑤ 测试结果：正确率92% → 触发 advance 正常推进</a:t>
            </a:r>
          </a:p>
          <a:p>
            <a:pPr algn="l">
              <a:spcAft>
                <a:spcPts val="1115"/>
              </a:spcAft>
              <a:defRPr sz="1100" b="0">
                <a:solidFill>
                  <a:srgbClr val="1E2A3A"/>
                </a:solidFill>
                <a:latin typeface="微软雅黑" panose="020B0503020204020204" charset="-122"/>
              </a:defRPr>
            </a:pPr>
            <a:r>
              <a:t>⑥ 下一阶段策略：进入权重合并与vLLM服务化部署实战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2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3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4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5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6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7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8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9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0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1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2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3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4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5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6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7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8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19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20.xml><?xml version="1.0" encoding="utf-8"?>
<p:tagLst xmlns:p="http://schemas.openxmlformats.org/presentationml/2006/main">
  <p:tag name="KSO_WM_DIAGRAM_VIRTUALLY_FRAME" val="{&quot;height&quot;:302,&quot;left&quot;:28.2,&quot;top&quot;:139.65,&quot;width&quot;:902.85}"/>
</p:tagLst>
</file>

<file path=ppt/tags/tag21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2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3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4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5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6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7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8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29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0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1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2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3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4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5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6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7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8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39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40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41.xml><?xml version="1.0" encoding="utf-8"?>
<p:tagLst xmlns:p="http://schemas.openxmlformats.org/presentationml/2006/main">
  <p:tag name="KSO_WM_DIAGRAM_VIRTUALLY_FRAME" val="{&quot;height&quot;:324,&quot;left&quot;:51.587952755905505,&quot;top&quot;:115.2,&quot;width&quot;:856.8}"/>
</p:tagLst>
</file>

<file path=ppt/tags/tag42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43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44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45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46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47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48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49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0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1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2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3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4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5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6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7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8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59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60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61.xml><?xml version="1.0" encoding="utf-8"?>
<p:tagLst xmlns:p="http://schemas.openxmlformats.org/presentationml/2006/main">
  <p:tag name="KSO_WM_DIAGRAM_VIRTUALLY_FRAME" val="{&quot;height&quot;:302.4,&quot;left&quot;:50.4,&quot;top&quot;:158.4,&quot;width&quot;:358.05}"/>
</p:tagLst>
</file>

<file path=ppt/tags/tag62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63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64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65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66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67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68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69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0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1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2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3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4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5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6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7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8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79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0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1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2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3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4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5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6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7.xml><?xml version="1.0" encoding="utf-8"?>
<p:tagLst xmlns:p="http://schemas.openxmlformats.org/presentationml/2006/main">
  <p:tag name="KSO_WM_DIAGRAM_VIRTUALLY_FRAME" val="{&quot;height&quot;:324,&quot;left&quot;:335.9879527559055,&quot;top&quot;:111.6,&quot;width&quot;:287.99999999999994}"/>
</p:tagLst>
</file>

<file path=ppt/tags/tag88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89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0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1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2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3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4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5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6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7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8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99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0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1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2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3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4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5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6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7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8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09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0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1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2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3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4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5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6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7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8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19.xml><?xml version="1.0" encoding="utf-8"?>
<p:tagLst xmlns:p="http://schemas.openxmlformats.org/presentationml/2006/main">
  <p:tag name="KSO_WM_DIAGRAM_VIRTUALLY_FRAME" val="{&quot;height&quot;:129.6,&quot;left&quot;:58.78795275590551,&quot;top&quot;:187.2,&quot;width&quot;:842.4}"/>
</p:tagLst>
</file>

<file path=ppt/tags/tag120.xml><?xml version="1.0" encoding="utf-8"?>
<p:tagLst xmlns:p="http://schemas.openxmlformats.org/presentationml/2006/main">
  <p:tag name="KSO_WM_DIAGRAM_VIRTUALLY_FRAME" val="{&quot;height&quot;:345.6,&quot;left&quot;:54,&quot;top&quot;:111.6,&quot;width&quot;:849.6}"/>
</p:tagLst>
</file>

<file path=ppt/tags/tag121.xml><?xml version="1.0" encoding="utf-8"?>
<p:tagLst xmlns:p="http://schemas.openxmlformats.org/presentationml/2006/main">
  <p:tag name="KSO_WM_DIAGRAM_VIRTUALLY_FRAME" val="{&quot;height&quot;:345.6,&quot;left&quot;:54,&quot;top&quot;:111.6,&quot;width&quot;:849.6}"/>
</p:tagLst>
</file>

<file path=ppt/tags/tag122.xml><?xml version="1.0" encoding="utf-8"?>
<p:tagLst xmlns:p="http://schemas.openxmlformats.org/presentationml/2006/main">
  <p:tag name="KSO_WM_DIAGRAM_VIRTUALLY_FRAME" val="{&quot;height&quot;:345.6,&quot;left&quot;:54,&quot;top&quot;:111.6,&quot;width&quot;:849.6}"/>
</p:tagLst>
</file>

<file path=ppt/tags/tag123.xml><?xml version="1.0" encoding="utf-8"?>
<p:tagLst xmlns:p="http://schemas.openxmlformats.org/presentationml/2006/main">
  <p:tag name="KSO_WM_DIAGRAM_VIRTUALLY_FRAME" val="{&quot;height&quot;:345.6,&quot;left&quot;:54,&quot;top&quot;:111.6,&quot;width&quot;:849.6}"/>
</p:tagLst>
</file>

<file path=ppt/tags/tag124.xml><?xml version="1.0" encoding="utf-8"?>
<p:tagLst xmlns:p="http://schemas.openxmlformats.org/presentationml/2006/main">
  <p:tag name="KSO_WM_DIAGRAM_VIRTUALLY_FRAME" val="{&quot;height&quot;:345.6,&quot;left&quot;:54,&quot;top&quot;:111.6,&quot;width&quot;:849.6}"/>
</p:tagLst>
</file>

<file path=ppt/tags/tag125.xml><?xml version="1.0" encoding="utf-8"?>
<p:tagLst xmlns:p="http://schemas.openxmlformats.org/presentationml/2006/main">
  <p:tag name="KSO_WM_DIAGRAM_VIRTUALLY_FRAME" val="{&quot;height&quot;:345.6,&quot;left&quot;:54,&quot;top&quot;:111.6,&quot;width&quot;:84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9484</Words>
  <Application>WPS 演示</Application>
  <PresentationFormat>On-screen Show (4:3)</PresentationFormat>
  <Paragraphs>1234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CraRne</cp:lastModifiedBy>
  <cp:revision>6</cp:revision>
  <dcterms:created xsi:type="dcterms:W3CDTF">2013-01-27T09:14:00Z</dcterms:created>
  <dcterms:modified xsi:type="dcterms:W3CDTF">2026-09-01T16:05:11Z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D32AF76491C64248A65FF722F09F1E8F_12</vt:lpwstr>
  </property>
</Properties>
</file>